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s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48640"/>
            <a:ext cx="5525076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HSIL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B76"/>
                </a:solidFill>
                <a:latin typeface="Calibri"/>
              </a:defRPr>
            </a:pPr>
            <a:r>
              <a:t>Taiwan Hub  ·  全球健康創新黑客松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8B0C"/>
                </a:solidFill>
                <a:latin typeface="Calibri"/>
              </a:defRPr>
            </a:pPr>
            <a:r>
              <a:t>Building High-Value Health Systems: Leveraging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663440"/>
            <a:ext cx="27432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Harvard T.H. Chan School of Public Health  ×  National Taiwan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April 10–11, 2026  ·  NTU School of Public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What is HSIL Hackathon?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2860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1A202E"/>
                </a:solidFill>
                <a:latin typeface="Calibri"/>
              </a:defRPr>
              <a:buFont typeface="Arial"/>
              <a:buChar char="●"/>
              <a:buClr>
                <a:srgbClr val="0D9B76"/>
              </a:buClr>
            </a:pPr>
            <a:r>
              <a:t>Annual health innovation hackathon by Harvard HSIL</a:t>
            </a:r>
          </a:p>
          <a:p>
            <a:pPr>
              <a:spcBef>
                <a:spcPts val="800"/>
              </a:spcBef>
              <a:defRPr sz="2000">
                <a:solidFill>
                  <a:srgbClr val="1A202E"/>
                </a:solidFill>
                <a:latin typeface="Calibri"/>
              </a:defRPr>
              <a:buFont typeface="Arial"/>
              <a:buChar char="●"/>
              <a:buClr>
                <a:srgbClr val="0D9B76"/>
              </a:buClr>
            </a:pPr>
            <a:r>
              <a:t>Now in its 7th edition — 30+ cities worldwide</a:t>
            </a:r>
          </a:p>
          <a:p>
            <a:pPr>
              <a:spcBef>
                <a:spcPts val="800"/>
              </a:spcBef>
              <a:defRPr sz="2000">
                <a:solidFill>
                  <a:srgbClr val="1A202E"/>
                </a:solidFill>
                <a:latin typeface="Calibri"/>
              </a:defRPr>
              <a:buFont typeface="Arial"/>
              <a:buChar char="●"/>
              <a:buClr>
                <a:srgbClr val="0D9B76"/>
              </a:buClr>
            </a:pPr>
            <a:r>
              <a:t>2026 is Taiwan's FIRST time participating</a:t>
            </a:r>
          </a:p>
          <a:p>
            <a:pPr>
              <a:spcBef>
                <a:spcPts val="800"/>
              </a:spcBef>
              <a:defRPr sz="2000">
                <a:solidFill>
                  <a:srgbClr val="1A202E"/>
                </a:solidFill>
                <a:latin typeface="Calibri"/>
              </a:defRPr>
              <a:buFont typeface="Arial"/>
              <a:buChar char="●"/>
              <a:buClr>
                <a:srgbClr val="0D9B76"/>
              </a:buClr>
            </a:pPr>
            <a:r>
              <a:t>Co-organized with National Taiwan University (NTU)</a:t>
            </a:r>
          </a:p>
          <a:p>
            <a:pPr>
              <a:spcBef>
                <a:spcPts val="800"/>
              </a:spcBef>
              <a:defRPr sz="2000">
                <a:solidFill>
                  <a:srgbClr val="1A202E"/>
                </a:solidFill>
                <a:latin typeface="Calibri"/>
              </a:defRPr>
              <a:buFont typeface="Arial"/>
              <a:buChar char="●"/>
              <a:buClr>
                <a:srgbClr val="0D9B76"/>
              </a:buClr>
            </a:pPr>
            <a:r>
              <a:t>Theme: Leveraging AI for high-value health systems</a:t>
            </a:r>
          </a:p>
        </p:txBody>
      </p:sp>
      <p:pic>
        <p:nvPicPr>
          <p:cNvPr id="6" name="Picture 5" descr="hackathon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89408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Quick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📅 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April 10–11, 2026 (Fri &amp; Sat)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📍 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NTU School of Public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⏱ 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2-Day Hackathon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👥  Team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3–5 members per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🎤 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3-min pitch + 2-min Q&amp;A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💰 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Completely FREE (meals included)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🗣 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Primarily Mandarin Chinese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257800"/>
            <a:ext cx="502920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📝  Registration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06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202E"/>
                </a:solidFill>
                <a:latin typeface="Calibri"/>
              </a:defRPr>
            </a:pPr>
            <a:r>
              <a:t>Deadline: March 31,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Why Join?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🆓  Completely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No registration fee — meals &amp; materials provided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642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💻  No Coding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All backgrounds welcome; deliverable is a pitch, not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27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🎓  Harvard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Top 2 teams get invited to HSIL Harvard Bootcamp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1752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127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🌍  Global Demo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Present at Harvard Demo Day on June 19,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902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🤝  Cross-Disciplinary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Network with students from medicine, CS, business &amp; more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80560"/>
            <a:ext cx="5303520" cy="10972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902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🏥  Real Health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E"/>
                </a:solidFill>
                <a:latin typeface="Calibri"/>
              </a:defRPr>
            </a:pPr>
            <a:r>
              <a:t>Solve actual healthcare problems with AI-driven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D9B76"/>
                </a:solidFill>
                <a:latin typeface="Calibri"/>
              </a:defRPr>
            </a:pPr>
            <a:r>
              <a:t>運用 AI 打造高價值醫療體系  —  Building High-Value Health Systems: Leveraging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📊  EHR Data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🤖  AI Diagnostic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💬  Clinical Chatbots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8892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👨‍⚕️  Medical Workforce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❤️  Cardiovascular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🎗  Cancer Care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🧠  Mental Health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92040"/>
            <a:ext cx="5029200" cy="77724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🛡  Disease Prevention &amp; Surveillance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Event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664208"/>
            <a:ext cx="256032" cy="256032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28216" y="1920240"/>
            <a:ext cx="36576" cy="7040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Now → Mar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54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E"/>
                </a:solidFill>
                <a:latin typeface="Calibri"/>
              </a:defRPr>
            </a:pPr>
            <a:r>
              <a:t>Registration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Online via Airtable form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2624328"/>
            <a:ext cx="256032" cy="256032"/>
          </a:xfrm>
          <a:prstGeom prst="ellipse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28216" y="2880360"/>
            <a:ext cx="36576" cy="7040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877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Early April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14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E"/>
                </a:solidFill>
                <a:latin typeface="Calibri"/>
              </a:defRPr>
            </a:pPr>
            <a:r>
              <a:t>Acceptance &amp; Pre-Event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62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Team confirmation + preparation materials</a:t>
            </a:r>
          </a:p>
        </p:txBody>
      </p:sp>
      <p:sp>
        <p:nvSpPr>
          <p:cNvPr id="15" name="Oval 14"/>
          <p:cNvSpPr/>
          <p:nvPr/>
        </p:nvSpPr>
        <p:spPr>
          <a:xfrm>
            <a:off x="1645920" y="3584448"/>
            <a:ext cx="256032" cy="256032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8216" y="3840480"/>
            <a:ext cx="36576" cy="7040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5478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Apr 10 (Day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E"/>
                </a:solidFill>
                <a:latin typeface="Calibri"/>
              </a:defRPr>
            </a:pPr>
            <a:r>
              <a:t>Opening · Team Formation · Brainstorm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22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8:00 AM – 5:30 PM at NTU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4544568"/>
            <a:ext cx="256032" cy="256032"/>
          </a:xfrm>
          <a:prstGeom prst="ellipse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8216" y="4800600"/>
            <a:ext cx="36576" cy="7040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079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Apr 11 (Day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E"/>
                </a:solidFill>
                <a:latin typeface="Calibri"/>
              </a:defRPr>
            </a:pPr>
            <a:r>
              <a:t>Solution Refinement · Pitch · Awards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782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8:30 AM – 5:00 PM at NTU</a:t>
            </a:r>
          </a:p>
        </p:txBody>
      </p:sp>
      <p:sp>
        <p:nvSpPr>
          <p:cNvPr id="25" name="Oval 24"/>
          <p:cNvSpPr/>
          <p:nvPr/>
        </p:nvSpPr>
        <p:spPr>
          <a:xfrm>
            <a:off x="1645920" y="5504688"/>
            <a:ext cx="256032" cy="256032"/>
          </a:xfrm>
          <a:prstGeom prst="ellipse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468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May–June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94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E"/>
                </a:solidFill>
                <a:latin typeface="Calibri"/>
              </a:defRPr>
            </a:pPr>
            <a:r>
              <a:t>Post-Event: Refinement &amp; Harvard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742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June 19 Demo Day at Harvard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Judging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Each criterion scored 1–5 pts  ·  Total: 30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Innovation 創新性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Novel and creative approach to 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39" y="219456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19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Feasibility 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Realistic implementation within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01168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8" y="219456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8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Health Impact 健康影響力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Meaningful contribution to health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20624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Scalability 可擴展性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Potential to scale across populations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02336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63439" y="420624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19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Presentation 簡報品質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Clear, compelling 3-minute pitch delivery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8" y="4023360"/>
            <a:ext cx="3383280" cy="1645920"/>
          </a:xfrm>
          <a:prstGeom prst="roundRect">
            <a:avLst/>
          </a:prstGeom>
          <a:solidFill>
            <a:srgbClr val="FD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78" y="4206240"/>
            <a:ext cx="731520" cy="411480"/>
          </a:xfrm>
          <a:prstGeom prst="round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8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8" y="4206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1D35"/>
                </a:solidFill>
                <a:latin typeface="Calibri"/>
              </a:defRPr>
            </a:pPr>
            <a:r>
              <a:t>AI Integration AI應用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8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02E"/>
                </a:solidFill>
                <a:latin typeface="Calibri"/>
              </a:defRPr>
            </a:pPr>
            <a:r>
              <a:t>Effective use of AI technologies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Website —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Built with modern web technologies to deliver a polished event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⚛️ 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React 18 + TypeScript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Vite 5 (blazing-fast builds)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🎨  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331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Tailwind CSS 3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shadcn/ui + Radix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645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✨  Animations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2331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Framer Motion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Scroll-triggered reveals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📱  Responsive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Mobile-first design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Adaptive navigation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931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🔧  Dev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617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ESLint · Vitest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React Testing Library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3931920"/>
            <a:ext cx="3383280" cy="1828800"/>
          </a:xfrm>
          <a:prstGeom prst="roundRect">
            <a:avLst/>
          </a:prstGeom>
          <a:solidFill>
            <a:srgbClr val="2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8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B76"/>
                </a:solidFill>
                <a:latin typeface="Calibri"/>
              </a:defRPr>
            </a:pPr>
            <a:r>
              <a:t>🌐 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4617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Live countdown timer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Bilingual (中文 / English)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1D35"/>
                </a:solidFill>
                <a:latin typeface="Calibri"/>
              </a:defRPr>
            </a:pPr>
            <a:r>
              <a:t>Website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286000" cy="508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Hero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Animated entrance with live countdown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timer to registration deadline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About &amp; Quick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148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Event overview, 6-card fact grid,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5-step process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55448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Themes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2148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8 AI-health challenge categories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with dark-mode card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Color-coded vertical timeline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from registration to Harvard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56616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Judging &amp; FAQ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160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6 scored criteria + 8 accordion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FAQ items for participants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3566160"/>
            <a:ext cx="33832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8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B76"/>
                </a:solidFill>
                <a:latin typeface="Calibri"/>
              </a:defRPr>
            </a:pPr>
            <a:r>
              <a:t>CTA &amp; Footer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4160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Prominent register button with glow</a:t>
            </a:r>
          </a:p>
          <a:p>
            <a:pPr>
              <a:spcBef>
                <a:spcPts val="300"/>
              </a:spcBef>
              <a:defRPr sz="1400">
                <a:solidFill>
                  <a:srgbClr val="1A202E"/>
                </a:solidFill>
                <a:latin typeface="Calibri"/>
              </a:defRPr>
            </a:pPr>
            <a:r>
              <a:t>effect + social media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8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0D9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準備好改變世界了嗎？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B76"/>
                </a:solidFill>
                <a:latin typeface="Calibri"/>
              </a:defRPr>
            </a:pPr>
            <a:r>
              <a:t>Ready to Change the World?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2743200" cy="50800"/>
          </a:xfrm>
          <a:prstGeom prst="rect">
            <a:avLst/>
          </a:prstGeom>
          <a:solidFill>
            <a:srgbClr val="D48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📝  Register by March 31,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📍  NTU School of Public Health  ·  April 10–11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📸  Instagram: @hsilhackathon.taiwan</a:t>
            </a:r>
          </a:p>
        </p:txBody>
      </p:sp>
      <p:pic>
        <p:nvPicPr>
          <p:cNvPr id="10" name="Picture 9" descr="hsi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669280"/>
            <a:ext cx="3867553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Thank you!  ·  謝謝！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