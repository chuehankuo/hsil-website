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0"/>
            <a:ext cx="2590495" cy="2286000"/>
          </a:xfrm>
          <a:prstGeom prst="rtTriangle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si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548640"/>
            <a:ext cx="4972568" cy="822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64592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94A3B8"/>
                </a:solidFill>
                <a:latin typeface="Calibri"/>
              </a:defRPr>
            </a:pPr>
            <a:r>
              <a:t>HARVARD T.H. CHAN SCHOOL OF PUBLIC HEALTH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9144000" cy="1371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HSIL Hackathon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74720"/>
            <a:ext cx="91440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000" b="1">
                <a:solidFill>
                  <a:srgbClr val="0D9B76"/>
                </a:solidFill>
                <a:latin typeface="Calibri"/>
              </a:defRPr>
            </a:pPr>
            <a:r>
              <a:t>Taiwan Hub  ·  全球健康創新黑客松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389120"/>
            <a:ext cx="365760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70916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0">
                <a:solidFill>
                  <a:srgbClr val="D48B0C"/>
                </a:solidFill>
                <a:latin typeface="Calibri"/>
              </a:defRPr>
            </a:pPr>
            <a:r>
              <a:t>Building High-Value Health Systems: Leveraging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39496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Chuehan Kuo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76072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Founder &amp; Lead Coordinator, Taiwan 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621792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April 10–11, 2026  ·  National Taiwan University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Every year, 5 million people die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800" b="0">
                <a:solidFill>
                  <a:srgbClr val="94A3B8"/>
                </a:solidFill>
                <a:latin typeface="Calibri"/>
              </a:defRPr>
            </a:pPr>
            <a:r>
              <a:t>from poor-quality healthcare in low &amp; middle-income countries.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926080"/>
            <a:ext cx="2103120" cy="5080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3474720" cy="22860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840480"/>
            <a:ext cx="2743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8B0C"/>
                </a:solidFill>
                <a:latin typeface="Calibri"/>
              </a:defRPr>
            </a:pPr>
            <a:r>
              <a:t>$8.6 Trillion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spent globally on health</a:t>
            </a:r>
          </a:p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each year — much of it wasted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474720"/>
            <a:ext cx="3474720" cy="22860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37760" y="3840480"/>
            <a:ext cx="2743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8B0C"/>
                </a:solidFill>
                <a:latin typeface="Calibri"/>
              </a:defRPr>
            </a:pPr>
            <a:r>
              <a:t>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of healthcare costs could be</a:t>
            </a:r>
          </a:p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reduced with better systems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3474720"/>
            <a:ext cx="3474720" cy="22860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3840480"/>
            <a:ext cx="27432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D48B0C"/>
                </a:solidFill>
                <a:latin typeface="Calibri"/>
              </a:defRPr>
            </a:pPr>
            <a:r>
              <a:t>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466344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has the potential to transform</a:t>
            </a:r>
          </a:p>
          <a:p>
            <a:pPr>
              <a:defRPr sz="1600">
                <a:solidFill>
                  <a:srgbClr val="CCCCCC"/>
                </a:solidFill>
                <a:latin typeface="Calibri"/>
              </a:defRPr>
            </a:pPr>
            <a:r>
              <a:t>how we deliver care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327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What if you could help fix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0" y="3200400"/>
            <a:ext cx="2103120" cy="508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400" b="0">
                <a:solidFill>
                  <a:srgbClr val="0D9B76"/>
                </a:solidFill>
                <a:latin typeface="Calibri"/>
              </a:defRPr>
            </a:pPr>
            <a:r>
              <a:t>What if all you needed was an idea, a team, and 2 days?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754880"/>
            <a:ext cx="9418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No coding required.  No medical degree needed.  Just your creativity.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1">
                <a:solidFill>
                  <a:srgbClr val="D48B0C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4712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HSIL Hackathon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200" b="0">
                <a:solidFill>
                  <a:srgbClr val="0D9B76"/>
                </a:solidFill>
                <a:latin typeface="Calibri"/>
              </a:defRPr>
            </a:pPr>
            <a:r>
              <a:t>The world's largest health innovation hackathon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80" y="3108960"/>
            <a:ext cx="173736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657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D48B0C"/>
                </a:solidFill>
                <a:latin typeface="Calibri"/>
              </a:defRPr>
            </a:pPr>
            <a:r>
              <a:t>7th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57200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Edition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3657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D48B0C"/>
                </a:solidFill>
                <a:latin typeface="Calibri"/>
              </a:defRPr>
            </a:pPr>
            <a:r>
              <a:t>30+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57200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Cities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657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D48B0C"/>
                </a:solidFill>
                <a:latin typeface="Calibri"/>
              </a:defRPr>
            </a:pPr>
            <a:r>
              <a:t>50+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457200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Countries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3657600"/>
            <a:ext cx="22860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D48B0C"/>
                </a:solidFill>
                <a:latin typeface="Calibri"/>
              </a:defRPr>
            </a:pPr>
            <a:r>
              <a:t>5,000+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4572000"/>
            <a:ext cx="2286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94A3B8"/>
                </a:solidFill>
                <a:latin typeface="Calibri"/>
              </a:defRPr>
            </a:pPr>
            <a:r>
              <a:t>Participants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Organized by Harvard T.H. Chan School of Public Health — Health Systems Innovation Lab</a:t>
            </a:r>
          </a:p>
        </p:txBody>
      </p:sp>
      <p:pic>
        <p:nvPicPr>
          <p:cNvPr id="16" name="Picture 15" descr="hsi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5943600"/>
            <a:ext cx="3315045" cy="5486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36576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9B76"/>
                </a:solidFill>
                <a:latin typeface="Calibri"/>
              </a:defRPr>
            </a:pPr>
            <a:r>
              <a:t>2026 THEME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FFFFFF"/>
                </a:solidFill>
                <a:latin typeface="Calibri"/>
              </a:defRPr>
            </a:pPr>
            <a:r>
              <a:t>運用 AI 打造高價值醫療體系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0584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000" b="0">
                <a:solidFill>
                  <a:srgbClr val="0D9B76"/>
                </a:solidFill>
                <a:latin typeface="Calibri"/>
              </a:defRPr>
            </a:pPr>
            <a:r>
              <a:t>Building High-Value Health Systems: Leveraging AI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743200"/>
            <a:ext cx="274320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320040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338328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EHR Data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3840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電子病歷數據分析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66160" y="320040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94760" y="338328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AI Diagnostic Tools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840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AI 診斷工具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20040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38328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Clinical Chatbots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840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臨床對話機器人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320040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40" y="338328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Workforce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40" y="38404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醫療人力配置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75488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493776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Cardiovascular Disease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3949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心血管疾病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66160" y="475488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94760" y="493776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Cancer Care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53949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癌症照護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75488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29400" y="493776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Mental 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53949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心理健康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35440" y="4754880"/>
            <a:ext cx="2560320" cy="123444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64040" y="4937760"/>
            <a:ext cx="219456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500" b="1">
                <a:solidFill>
                  <a:srgbClr val="0D9B76"/>
                </a:solidFill>
                <a:latin typeface="Calibri"/>
              </a:defRPr>
            </a:pPr>
            <a:r>
              <a:t>Disease Surveillance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64040" y="539496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傳染病防治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A81D35"/>
                </a:solidFill>
                <a:latin typeface="Calibri"/>
              </a:defRPr>
            </a:pPr>
            <a:r>
              <a:t>TAIWAN HUB — 台灣站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640080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200" b="1">
                <a:solidFill>
                  <a:srgbClr val="A81D35"/>
                </a:solidFill>
                <a:latin typeface="Calibri"/>
              </a:defRPr>
            </a:pPr>
            <a:r>
              <a:t>Taiwan's First Year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64008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台灣首次加入全球 30+ 城市同步舉辦的健康創新盛會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468880"/>
            <a:ext cx="2286000" cy="508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2834640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April 10–11, 2026 (Fri &amp; Sat)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56432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Venue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456432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NTU School of Public Health 台大公衛學院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78224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4078224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Completely FREE — meals &amp; materials included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700016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Team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4700016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3–5 members (solo registration OK, team up on Day 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21808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5321808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3-min pitch + 2-min Q&amp;A (no coding required)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43600"/>
            <a:ext cx="13716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D9B76"/>
                </a:solidFill>
                <a:latin typeface="Calibri"/>
              </a:defRPr>
            </a:pPr>
            <a:r>
              <a:t>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86000" y="5943600"/>
            <a:ext cx="457200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Mandarin Chinese (some materials in English)</a:t>
            </a:r>
          </a:p>
        </p:txBody>
      </p:sp>
      <p:pic>
        <p:nvPicPr>
          <p:cNvPr id="19" name="Picture 18" descr="hackathon-po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914400"/>
            <a:ext cx="9428480" cy="53035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" y="6400800"/>
            <a:ext cx="54864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0">
                <a:solidFill>
                  <a:srgbClr val="94A3B8"/>
                </a:solidFill>
                <a:latin typeface="Calibri"/>
              </a:defRPr>
            </a:pPr>
            <a:r>
              <a:t>Co-organized by National Taiwan University × Harvard HSIL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D48B0C"/>
                </a:solidFill>
                <a:latin typeface="Calibri"/>
              </a:defRPr>
            </a:pPr>
            <a:r>
              <a:t>THE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From Registration to Harvard Demo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37360"/>
            <a:ext cx="274320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2468880"/>
            <a:ext cx="2011680" cy="3474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3000" y="2743200"/>
            <a:ext cx="640080" cy="640080"/>
          </a:xfrm>
          <a:prstGeom prst="ellipse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7432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66160"/>
            <a:ext cx="1737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Register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023360"/>
            <a:ext cx="1737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Now → Mar 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44805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Fill out Airtable form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線上報名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84048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2468880"/>
            <a:ext cx="2011680" cy="3474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429000" y="2743200"/>
            <a:ext cx="640080" cy="640080"/>
          </a:xfrm>
          <a:prstGeom prst="ellipse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29000" y="27432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566160"/>
            <a:ext cx="1737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Get Accepted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4023360"/>
            <a:ext cx="1737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Early April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805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Acceptance notice +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pre-event guide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84048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2468880"/>
            <a:ext cx="2011680" cy="3474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715000" y="2743200"/>
            <a:ext cx="640080" cy="640080"/>
          </a:xfrm>
          <a:prstGeom prst="ellipse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0" y="27432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66360" y="3566160"/>
            <a:ext cx="1737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Hack for 2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4023360"/>
            <a:ext cx="1737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Apr 10–11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66360" y="44805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Team up · Brainstorm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Build · Pitch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84048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2468880"/>
            <a:ext cx="2011680" cy="3474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001000" y="2743200"/>
            <a:ext cx="640080" cy="640080"/>
          </a:xfrm>
          <a:prstGeom prst="ellipse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1000" y="27432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3566160"/>
            <a:ext cx="1737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Win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52360" y="4023360"/>
            <a:ext cx="1737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Apr 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52360" y="44805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Top 2 teams advance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to Harvard track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840480"/>
            <a:ext cx="2743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2000" b="0">
                <a:solidFill>
                  <a:srgbClr val="94A3B8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601200" y="2468880"/>
            <a:ext cx="2011680" cy="3474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87000" y="2743200"/>
            <a:ext cx="640080" cy="640080"/>
          </a:xfrm>
          <a:prstGeom prst="ellipse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2743200"/>
            <a:ext cx="64008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3566160"/>
            <a:ext cx="17373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Harvard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38360" y="4023360"/>
            <a:ext cx="17373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100" b="0">
                <a:solidFill>
                  <a:srgbClr val="94A3B8"/>
                </a:solidFill>
                <a:latin typeface="Calibri"/>
              </a:defRPr>
            </a:pPr>
            <a:r>
              <a:t>June 19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38360" y="4480560"/>
            <a:ext cx="1737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Bootcamp training +</a:t>
            </a:r>
          </a:p>
          <a:p>
            <a:pPr algn="ctr">
              <a:defRPr sz="1200">
                <a:solidFill>
                  <a:srgbClr val="CCCCCC"/>
                </a:solidFill>
                <a:latin typeface="Calibri"/>
              </a:defRPr>
            </a:pPr>
            <a:r>
              <a:t>Demo Day at Harvard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A81D35"/>
                </a:solidFill>
                <a:latin typeface="Calibri"/>
              </a:defRPr>
            </a:pPr>
            <a:r>
              <a:t>WHO CAN JOIN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000" b="1">
                <a:solidFill>
                  <a:srgbClr val="A81D35"/>
                </a:solidFill>
                <a:latin typeface="Calibri"/>
              </a:defRPr>
            </a:pPr>
            <a:r>
              <a:t>This Hackathon Is For Everyone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91440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跨領域團隊合作 — 不限科系背景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86000"/>
            <a:ext cx="1828800" cy="508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74320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92608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A81D35"/>
                </a:solidFill>
                <a:latin typeface="Calibri"/>
              </a:defRPr>
            </a:pPr>
            <a:r>
              <a:t>Medicine 醫學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274320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92608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0D9B76"/>
                </a:solidFill>
                <a:latin typeface="Calibri"/>
              </a:defRPr>
            </a:pPr>
            <a:r>
              <a:t>Public Health 公衛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74320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92608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D48B0C"/>
                </a:solidFill>
                <a:latin typeface="Calibri"/>
              </a:defRPr>
            </a:pPr>
            <a:r>
              <a:t>Computer Science 資工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35440" y="274320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09760" y="292608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64748B"/>
                </a:solidFill>
                <a:latin typeface="Calibri"/>
              </a:defRPr>
            </a:pPr>
            <a:r>
              <a:t>Business 商管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4048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02336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8B5CF6"/>
                </a:solidFill>
                <a:latin typeface="Calibri"/>
              </a:defRPr>
            </a:pPr>
            <a:r>
              <a:t>Design 設計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84048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40480" y="402336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0D9B76"/>
                </a:solidFill>
                <a:latin typeface="Calibri"/>
              </a:defRPr>
            </a:pPr>
            <a:r>
              <a:t>Engineering 工程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84048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02336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A81D35"/>
                </a:solidFill>
                <a:latin typeface="Calibri"/>
              </a:defRPr>
            </a:pPr>
            <a:r>
              <a:t>Law 法律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3840480"/>
            <a:ext cx="2560320" cy="82296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09760" y="4023360"/>
            <a:ext cx="210312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600" b="1">
                <a:solidFill>
                  <a:srgbClr val="D48B0C"/>
                </a:solidFill>
                <a:latin typeface="Calibri"/>
              </a:defRPr>
            </a:pPr>
            <a:r>
              <a:t>Social Science 社科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02920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→  All university students welcome — undergrad, master's, PhD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44068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→  No programming or technical background required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85216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→  Can register solo — teams formed on Day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626364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→  Must attend both days (April 10 &amp; 11)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0D9B76"/>
                </a:solidFill>
                <a:latin typeface="Calibri"/>
              </a:defRPr>
            </a:pPr>
            <a:r>
              <a:t>WHY JOIN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6 Reasons You Can't Miss This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2286000" cy="508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0312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73152" cy="82296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Completely Free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43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零費用 — 包含兩天午餐與活動物資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10312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286000"/>
            <a:ext cx="73152" cy="82296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228600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Coding Required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743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不需要程式背景 — 只需要一個 Pitch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749040"/>
            <a:ext cx="73152" cy="82296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74904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Harvard Bootcamp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20624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前兩名進入哈佛 HSIL 培訓計畫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0" y="356616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749040"/>
            <a:ext cx="73152" cy="82296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0" y="374904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Global Demo Day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420624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6/19 在哈佛向全球專家展示方案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2920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5212080"/>
            <a:ext cx="73152" cy="82296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21208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Expert Mentors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66928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現場導師指導 — 來自醫療、AI、商業等領域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5029200"/>
            <a:ext cx="5303520" cy="118872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5212080"/>
            <a:ext cx="73152" cy="82296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0" y="5212080"/>
            <a:ext cx="4572000" cy="4114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Real Impact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66928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解決真實的全球健康挑戰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4572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200" b="1">
                <a:solidFill>
                  <a:srgbClr val="A81D35"/>
                </a:solidFill>
                <a:latin typeface="Calibri"/>
              </a:defRPr>
            </a:pPr>
            <a:r>
              <a:t>JUDGING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3600" b="1">
                <a:solidFill>
                  <a:srgbClr val="A81D35"/>
                </a:solidFill>
                <a:latin typeface="Calibri"/>
              </a:defRPr>
            </a:pPr>
            <a:r>
              <a:t>How Teams Are Evaluated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91440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6 criteria  ×  5 points each  =  30 points total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182880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74320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74320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Innovation 創新性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42900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Novel, creative approach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56032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63439" y="274320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274320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399" y="274320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Feasibility 可行性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39" y="342900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Realistic implementation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598" y="256032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78" y="274320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8" y="274320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38" y="274320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Health Impact 健康影響力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342900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Meaningful health outcomes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8056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14400" y="466344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6344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6634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Scalability 可擴展性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Potential to scale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80559" y="448056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663439" y="466344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63439" y="466344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399" y="46634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Presentation 簡報品質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39" y="534924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Clear, compelling pitch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598" y="4480560"/>
            <a:ext cx="3383280" cy="1554480"/>
          </a:xfrm>
          <a:prstGeom prst="round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12478" y="4663440"/>
            <a:ext cx="685800" cy="457200"/>
          </a:xfrm>
          <a:prstGeom prst="round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8" y="4663440"/>
            <a:ext cx="685800" cy="4572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 pts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38" y="46634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1">
                <a:solidFill>
                  <a:srgbClr val="A81D35"/>
                </a:solidFill>
                <a:latin typeface="Calibri"/>
              </a:defRPr>
            </a:pPr>
            <a:r>
              <a:t>AI Integration AI應用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8" y="5349240"/>
            <a:ext cx="301752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400" b="0">
                <a:solidFill>
                  <a:srgbClr val="1A202E"/>
                </a:solidFill>
                <a:latin typeface="Calibri"/>
              </a:defRPr>
            </a:pPr>
            <a:r>
              <a:t>Effective use of AI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3152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D48B0C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24712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Register by March 31,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2560320"/>
            <a:ext cx="210312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3108960"/>
            <a:ext cx="2194560" cy="13716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When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7490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April 10–11,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31920" y="3108960"/>
            <a:ext cx="2194560" cy="13716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0" y="33832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Where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7490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NTU School of Public Health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3108960"/>
            <a:ext cx="2194560" cy="13716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3832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7490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0" y="3108960"/>
            <a:ext cx="2194560" cy="1371600"/>
          </a:xfrm>
          <a:prstGeom prst="roundRect">
            <a:avLst/>
          </a:prstGeom>
          <a:solidFill>
            <a:srgbClr val="1E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0" y="3383280"/>
            <a:ext cx="219456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Deadline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3749040"/>
            <a:ext cx="219456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700" b="1">
                <a:solidFill>
                  <a:srgbClr val="FFFFFF"/>
                </a:solidFill>
                <a:latin typeface="Calibri"/>
              </a:defRPr>
            </a:pPr>
            <a:r>
              <a:t>March 31,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0D9B76"/>
                </a:solidFill>
                <a:latin typeface="Calibri"/>
              </a:defRPr>
            </a:pPr>
            <a:r>
              <a:t>Registration:  airtable.com  (link on our website)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9496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500" b="0">
                <a:solidFill>
                  <a:srgbClr val="94A3B8"/>
                </a:solidFill>
                <a:latin typeface="Calibri"/>
              </a:defRPr>
            </a:pPr>
            <a:r>
              <a:t>Instagram:  @hsilhackathon.taiwan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600" b="0">
                <a:solidFill>
                  <a:srgbClr val="D48B0C"/>
                </a:solidFill>
                <a:latin typeface="Calibri"/>
              </a:defRPr>
            </a:pPr>
            <a:r>
              <a:t>Only 30 days left.  Spots are limited.  Don't miss Taiwan's first HSIL Hackathon.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3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A81D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0D9B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準備好改變世界了嗎？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0D9B76"/>
                </a:solidFill>
                <a:latin typeface="Calibri"/>
              </a:defRPr>
            </a:pPr>
            <a:r>
              <a:t>The future of healthcare won't build itself.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566160"/>
            <a:ext cx="3657600" cy="50800"/>
          </a:xfrm>
          <a:prstGeom prst="rect">
            <a:avLst/>
          </a:prstGeom>
          <a:solidFill>
            <a:srgbClr val="D48B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05840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600" b="0">
                <a:solidFill>
                  <a:srgbClr val="D48B0C"/>
                </a:solidFill>
                <a:latin typeface="Calibri"/>
              </a:defRPr>
            </a:pPr>
            <a:r>
              <a:t>It needs people like you.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Chuehan Kuo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Founder &amp; Lead Coordinator — HSIL Hackathon Taiwan Hub</a:t>
            </a:r>
          </a:p>
        </p:txBody>
      </p:sp>
      <p:pic>
        <p:nvPicPr>
          <p:cNvPr id="10" name="Picture 9" descr="hsil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126480"/>
            <a:ext cx="3038792" cy="5029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0" y="6309360"/>
            <a:ext cx="73152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600" b="0">
                <a:solidFill>
                  <a:srgbClr val="94A3B8"/>
                </a:solidFill>
                <a:latin typeface="Calibri"/>
              </a:defRPr>
            </a:pPr>
            <a:r>
              <a:t>Thank you  ·  謝謝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>
              <a:defRPr sz="1000" b="0">
                <a:solidFill>
                  <a:srgbClr val="94A3B8"/>
                </a:solidFill>
                <a:latin typeface="Calibri"/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