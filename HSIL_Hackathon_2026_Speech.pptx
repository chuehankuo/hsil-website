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8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91695" cy="36576"/>
          </a:xfrm>
          <a:prstGeom prst="rect">
            <a:avLst/>
          </a:prstGeom>
          <a:solidFill>
            <a:srgbClr val="0D9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"/>
            <a:ext cx="457200" cy="67299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si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640080"/>
            <a:ext cx="4696314" cy="777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" y="16459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64748B"/>
                </a:solidFill>
                <a:latin typeface="Calibri"/>
              </a:defRPr>
            </a:pPr>
            <a:r>
              <a:t>HARVARD T.H. CHAN SCHOOL OF PUBLIC HEALTH  ·  HEALTH SYSTEMS INNOVATION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91440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200" b="1" i="0">
                <a:solidFill>
                  <a:srgbClr val="A81D35"/>
                </a:solidFill>
                <a:latin typeface="Calibri"/>
              </a:defRPr>
            </a:pPr>
            <a:r>
              <a:t>HSIL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0D9B76"/>
                </a:solidFill>
                <a:latin typeface="Calibri"/>
              </a:defRPr>
            </a:pPr>
            <a:r>
              <a:t>Taiwan Hub  ·  全球健康創新黑客松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4206240"/>
            <a:ext cx="4114800" cy="50800"/>
          </a:xfrm>
          <a:prstGeom prst="rect">
            <a:avLst/>
          </a:prstGeom>
          <a:solidFill>
            <a:srgbClr val="D48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48056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 i="1">
                <a:solidFill>
                  <a:srgbClr val="D48B0C"/>
                </a:solidFill>
                <a:latin typeface="Calibri"/>
              </a:defRPr>
            </a:pPr>
            <a:r>
              <a:t>Building High-Value Health Systems: Leveraging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1206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1E293B"/>
                </a:solidFill>
                <a:latin typeface="Calibri"/>
              </a:defRPr>
            </a:pPr>
            <a:r>
              <a:t>Chuehan Kuo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4864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64748B"/>
                </a:solidFill>
                <a:latin typeface="Calibri"/>
              </a:defRPr>
            </a:pPr>
            <a:r>
              <a:t>Founder &amp; Lead Coordinator, Taiwan 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60350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  <a:latin typeface="Calibri"/>
              </a:defRPr>
            </a:pPr>
            <a:r>
              <a:t>April 10–11, 2026  ·  National Taiwan University  ·  NTU School of Public Health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63093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  <a:latin typeface="Calibri"/>
              </a:defRPr>
            </a:pPr>
            <a:r>
              <a:t>Co-organized by NTU × Harvard HSIL  ·  Free Admission</a:t>
            </a:r>
          </a:p>
        </p:txBody>
      </p:sp>
      <p:pic>
        <p:nvPicPr>
          <p:cNvPr id="15" name="Picture 14" descr="hackathon-po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371600"/>
            <a:ext cx="8128000" cy="4572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 i="0">
                <a:solidFill>
                  <a:srgbClr val="64748B"/>
                </a:solidFill>
                <a:latin typeface="Calibri"/>
              </a:defRPr>
            </a:pPr>
            <a: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A8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A81D35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 i="0">
                <a:solidFill>
                  <a:srgbClr val="A81D35"/>
                </a:solidFill>
                <a:latin typeface="Calibri"/>
              </a:defRPr>
            </a:pPr>
            <a:r>
              <a:t>Healthcare Systems Are Under Immense Pressure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2743200" cy="50800"/>
          </a:xfrm>
          <a:prstGeom prst="rect">
            <a:avLst/>
          </a:prstGeom>
          <a:solidFill>
            <a:srgbClr val="A8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3474720" cy="2926080"/>
          </a:xfrm>
          <a:prstGeom prst="roundRect">
            <a:avLst/>
          </a:prstGeom>
          <a:solidFill>
            <a:srgbClr val="FDF0F3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2468880"/>
            <a:ext cx="1371600" cy="50800"/>
          </a:xfrm>
          <a:prstGeom prst="rect">
            <a:avLst/>
          </a:prstGeom>
          <a:solidFill>
            <a:srgbClr val="A8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 i="0">
                <a:solidFill>
                  <a:srgbClr val="A81D35"/>
                </a:solidFill>
                <a:latin typeface="Calibri"/>
              </a:defRPr>
            </a:pPr>
            <a:r>
              <a:t>5 Million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8328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1E293B"/>
                </a:solidFill>
                <a:latin typeface="Calibri"/>
              </a:defRPr>
            </a:pPr>
            <a:r>
              <a:t>people die every year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8404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from poor-quality healthcare</a:t>
            </a:r>
          </a:p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in low &amp; middle-income countries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2194560"/>
            <a:ext cx="3474720" cy="2926080"/>
          </a:xfrm>
          <a:prstGeom prst="roundRect">
            <a:avLst/>
          </a:prstGeom>
          <a:solidFill>
            <a:srgbClr val="FEF3E2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79" y="2468880"/>
            <a:ext cx="1371600" cy="50800"/>
          </a:xfrm>
          <a:prstGeom prst="rect">
            <a:avLst/>
          </a:prstGeom>
          <a:solidFill>
            <a:srgbClr val="D48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79" y="2743200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 i="0">
                <a:solidFill>
                  <a:srgbClr val="D48B0C"/>
                </a:solidFill>
                <a:latin typeface="Calibri"/>
              </a:defRPr>
            </a:pPr>
            <a:r>
              <a:t>$8.6 Trillion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338328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1E293B"/>
                </a:solidFill>
                <a:latin typeface="Calibri"/>
              </a:defRPr>
            </a:pPr>
            <a:r>
              <a:t>spent on health globally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38404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each year — with significant</a:t>
            </a:r>
          </a:p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inefficiency and waste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598" y="2194560"/>
            <a:ext cx="3474720" cy="2926080"/>
          </a:xfrm>
          <a:prstGeom prst="roundRect">
            <a:avLst/>
          </a:prstGeom>
          <a:solidFill>
            <a:srgbClr val="E6FAF5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03918" y="2468880"/>
            <a:ext cx="1371600" cy="50800"/>
          </a:xfrm>
          <a:prstGeom prst="rect">
            <a:avLst/>
          </a:prstGeom>
          <a:solidFill>
            <a:srgbClr val="0D9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18" y="2743200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 i="0">
                <a:solidFill>
                  <a:srgbClr val="0D9B76"/>
                </a:solidFill>
                <a:latin typeface="Calibri"/>
              </a:defRPr>
            </a:pPr>
            <a:r>
              <a:t>3.6 Billion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18" y="338328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1E293B"/>
                </a:solidFill>
                <a:latin typeface="Calibri"/>
              </a:defRPr>
            </a:pPr>
            <a:r>
              <a:t>people lack 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8" y="38404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to essential health services</a:t>
            </a:r>
          </a:p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worldwide (WHO estimate)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4864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 i="1">
                <a:solidFill>
                  <a:srgbClr val="1E293B"/>
                </a:solidFill>
                <a:latin typeface="Calibri"/>
              </a:defRPr>
            </a:pPr>
            <a:r>
              <a:t>AI has the potential to transform how we deliver, manage, and improve healthcare — but it needs fresh ideas from diverse minds.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 i="0">
                <a:solidFill>
                  <a:srgbClr val="64748B"/>
                </a:solidFill>
                <a:latin typeface="Calibri"/>
              </a:defRPr>
            </a:pPr>
            <a: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800" b="1" i="0">
                <a:solidFill>
                  <a:srgbClr val="1E293B"/>
                </a:solidFill>
                <a:latin typeface="Calibri"/>
              </a:defRPr>
            </a:pPr>
            <a:r>
              <a:t>What if you could help fix it?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743200"/>
            <a:ext cx="2103120" cy="50800"/>
          </a:xfrm>
          <a:prstGeom prst="rect">
            <a:avLst/>
          </a:prstGeom>
          <a:solidFill>
            <a:srgbClr val="0D9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0" i="0">
                <a:solidFill>
                  <a:srgbClr val="0D9B76"/>
                </a:solidFill>
                <a:latin typeface="Calibri"/>
              </a:defRPr>
            </a:pPr>
            <a:r>
              <a:t>What if all you needed was an idea, a team, and 2 days?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114800"/>
            <a:ext cx="2926080" cy="1371600"/>
          </a:xfrm>
          <a:prstGeom prst="roundRect">
            <a:avLst/>
          </a:prstGeom>
          <a:solidFill>
            <a:srgbClr val="E6FAF5"/>
          </a:solidFill>
          <a:ln w="12700">
            <a:solidFill>
              <a:srgbClr val="0D9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438912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 i="0">
                <a:solidFill>
                  <a:srgbClr val="0D9B76"/>
                </a:solidFill>
                <a:latin typeface="Calibri"/>
              </a:defRPr>
            </a:pPr>
            <a:r>
              <a:t>No Coding Required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89204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 i="0">
                <a:solidFill>
                  <a:srgbClr val="64748B"/>
                </a:solidFill>
                <a:latin typeface="Calibri"/>
              </a:defRPr>
            </a:pPr>
            <a:r>
              <a:t>不需要程式背景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4114800"/>
            <a:ext cx="2926080" cy="1371600"/>
          </a:xfrm>
          <a:prstGeom prst="roundRect">
            <a:avLst/>
          </a:prstGeom>
          <a:solidFill>
            <a:srgbClr val="FDF0F3"/>
          </a:solidFill>
          <a:ln w="12700">
            <a:solidFill>
              <a:srgbClr val="A81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438912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 i="0">
                <a:solidFill>
                  <a:srgbClr val="A81D35"/>
                </a:solidFill>
                <a:latin typeface="Calibri"/>
              </a:defRPr>
            </a:pPr>
            <a:r>
              <a:t>No Medical Degree Needed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489204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 i="0">
                <a:solidFill>
                  <a:srgbClr val="64748B"/>
                </a:solidFill>
                <a:latin typeface="Calibri"/>
              </a:defRPr>
            </a:pPr>
            <a:r>
              <a:t>不需要醫學背景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4114800"/>
            <a:ext cx="2926080" cy="1371600"/>
          </a:xfrm>
          <a:prstGeom prst="roundRect">
            <a:avLst/>
          </a:prstGeom>
          <a:solidFill>
            <a:srgbClr val="FEF3E2"/>
          </a:solidFill>
          <a:ln w="12700">
            <a:solidFill>
              <a:srgbClr val="D48B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38912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 i="0">
                <a:solidFill>
                  <a:srgbClr val="D48B0C"/>
                </a:solidFill>
                <a:latin typeface="Calibri"/>
              </a:defRPr>
            </a:pPr>
            <a:r>
              <a:t>Just Your Creativity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89204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 i="0">
                <a:solidFill>
                  <a:srgbClr val="64748B"/>
                </a:solidFill>
                <a:latin typeface="Calibri"/>
              </a:defRPr>
            </a:pPr>
            <a:r>
              <a:t>只需要你的創意和熱情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 i="0">
                <a:solidFill>
                  <a:srgbClr val="64748B"/>
                </a:solidFill>
                <a:latin typeface="Calibri"/>
              </a:defRPr>
            </a:pPr>
            <a: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8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D48B0C"/>
                </a:solidFill>
                <a:latin typeface="Calibri"/>
              </a:defRPr>
            </a:pPr>
            <a:r>
              <a:t>THE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 i="0">
                <a:solidFill>
                  <a:srgbClr val="A81D35"/>
                </a:solidFill>
                <a:latin typeface="Calibri"/>
              </a:defRPr>
            </a:pPr>
            <a:r>
              <a:t>HSIL Hackathon — The World's Largest Health Innovation Hackathon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D48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68580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1E293B"/>
                </a:solidFill>
                <a:latin typeface="Calibri"/>
              </a:defRPr>
            </a:pPr>
            <a:r>
              <a:t>HSIL Hackathon 是由哈佛大學公共衛生學院 Health Systems Innovation Lab 發起的全球健康創新黑客松，每年在世界各地 30 多個城市同步舉辦，匯集數千名來自不同領域的參與者，共同探索健康系統的未來。</a:t>
            </a:r>
            <a:br/>
            <a:br/>
            <a:r>
              <a:t>這不是一般的程式競賽——我們著重跨領域團隊合作，結合醫學、公共衛生、商管、設計、工程、法律、社會科學等背景的參賽者，在兩天內針對真實的全球健康挑戰，運用數據與 AI 工具提出可落地的創新解方。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828800"/>
            <a:ext cx="3474720" cy="10058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 i="0">
                <a:solidFill>
                  <a:srgbClr val="A81D35"/>
                </a:solidFill>
                <a:latin typeface="Calibri"/>
              </a:defRPr>
            </a:pPr>
            <a:r>
              <a:t>7th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19659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93B"/>
                </a:solidFill>
                <a:latin typeface="Calibri"/>
              </a:defRPr>
            </a:pPr>
            <a:r>
              <a:t>Edition</a:t>
            </a:r>
          </a:p>
          <a:p>
            <a:pPr>
              <a:defRPr sz="1200" b="0">
                <a:solidFill>
                  <a:srgbClr val="64748B"/>
                </a:solidFill>
                <a:latin typeface="Calibri"/>
              </a:defRPr>
            </a:pPr>
            <a:r>
              <a:t>第七屆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017520"/>
            <a:ext cx="3474720" cy="10058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3108960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 i="0">
                <a:solidFill>
                  <a:srgbClr val="0D9B76"/>
                </a:solidFill>
                <a:latin typeface="Calibri"/>
              </a:defRPr>
            </a:pPr>
            <a:r>
              <a:t>30+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31546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93B"/>
                </a:solidFill>
                <a:latin typeface="Calibri"/>
              </a:defRPr>
            </a:pPr>
            <a:r>
              <a:t>Cities Worldwide</a:t>
            </a:r>
          </a:p>
          <a:p>
            <a:pPr>
              <a:defRPr sz="1200" b="0">
                <a:solidFill>
                  <a:srgbClr val="64748B"/>
                </a:solidFill>
                <a:latin typeface="Calibri"/>
              </a:defRPr>
            </a:pPr>
            <a:r>
              <a:t>全球城市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4206240"/>
            <a:ext cx="3474720" cy="10058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4297680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 i="0">
                <a:solidFill>
                  <a:srgbClr val="D48B0C"/>
                </a:solidFill>
                <a:latin typeface="Calibri"/>
              </a:defRPr>
            </a:pPr>
            <a:r>
              <a:t>50+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43434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93B"/>
                </a:solidFill>
                <a:latin typeface="Calibri"/>
              </a:defRPr>
            </a:pPr>
            <a:r>
              <a:t>Countries</a:t>
            </a:r>
          </a:p>
          <a:p>
            <a:pPr>
              <a:defRPr sz="1200" b="0">
                <a:solidFill>
                  <a:srgbClr val="64748B"/>
                </a:solidFill>
                <a:latin typeface="Calibri"/>
              </a:defRPr>
            </a:pPr>
            <a:r>
              <a:t>參與國家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5394960"/>
            <a:ext cx="3474720" cy="10058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5486400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 i="0">
                <a:solidFill>
                  <a:srgbClr val="A81D35"/>
                </a:solidFill>
                <a:latin typeface="Calibri"/>
              </a:defRPr>
            </a:pPr>
            <a:r>
              <a:t>5,000+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55321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93B"/>
                </a:solidFill>
                <a:latin typeface="Calibri"/>
              </a:defRPr>
            </a:pPr>
            <a:r>
              <a:t>Participants</a:t>
            </a:r>
          </a:p>
          <a:p>
            <a:pPr>
              <a:defRPr sz="1200" b="0">
                <a:solidFill>
                  <a:srgbClr val="64748B"/>
                </a:solidFill>
                <a:latin typeface="Calibri"/>
              </a:defRPr>
            </a:pPr>
            <a:r>
              <a:t>歷年參與者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754880"/>
            <a:ext cx="6858000" cy="1188720"/>
          </a:xfrm>
          <a:prstGeom prst="roundRect">
            <a:avLst/>
          </a:prstGeom>
          <a:solidFill>
            <a:srgbClr val="FD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754880"/>
            <a:ext cx="91440" cy="1188720"/>
          </a:xfrm>
          <a:prstGeom prst="rect">
            <a:avLst/>
          </a:prstGeom>
          <a:solidFill>
            <a:srgbClr val="A8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937760"/>
            <a:ext cx="6217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A81D35"/>
                </a:solidFill>
                <a:latin typeface="Calibri"/>
              </a:defRPr>
            </a:pPr>
            <a:r>
              <a:t>國立臺灣大學 × 哈佛大學聯合主辦</a:t>
            </a:r>
            <a:br/>
            <a:r>
              <a:t>不需要程式背景，只需要你對健康議題的熱情和創新思維。</a:t>
            </a:r>
          </a:p>
        </p:txBody>
      </p:sp>
      <p:pic>
        <p:nvPicPr>
          <p:cNvPr id="22" name="Picture 21" descr="hsi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5760720"/>
            <a:ext cx="3315045" cy="5486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 i="0">
                <a:solidFill>
                  <a:srgbClr val="64748B"/>
                </a:solidFill>
                <a:latin typeface="Calibri"/>
              </a:defRPr>
            </a:pPr>
            <a: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0D9B76"/>
                </a:solidFill>
                <a:latin typeface="Calibri"/>
              </a:defRPr>
            </a:pPr>
            <a:r>
              <a:t>2026 THEME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 i="0">
                <a:solidFill>
                  <a:srgbClr val="1E293B"/>
                </a:solidFill>
                <a:latin typeface="Calibri"/>
              </a:defRPr>
            </a:pPr>
            <a:r>
              <a:t>運用 AI 打造高價值醫療體系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 i="1">
                <a:solidFill>
                  <a:srgbClr val="0D9B76"/>
                </a:solidFill>
                <a:latin typeface="Calibri"/>
              </a:defRPr>
            </a:pPr>
            <a:r>
              <a:t>Building High-Value Health Systems: Leveraging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2743200" cy="50800"/>
          </a:xfrm>
          <a:prstGeom prst="rect">
            <a:avLst/>
          </a:prstGeom>
          <a:solidFill>
            <a:srgbClr val="0D9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64748B"/>
                </a:solidFill>
                <a:latin typeface="Calibri"/>
              </a:defRPr>
            </a:pPr>
            <a:r>
              <a:t>今年的黑客松聚焦於如何運用人工智慧 (AI) 技術來改善健康系統。參賽團隊將針對以下八大領域提出創新解方：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2606040" cy="1645920"/>
          </a:xfrm>
          <a:prstGeom prst="roundRect">
            <a:avLst/>
          </a:prstGeom>
          <a:solidFill>
            <a:srgbClr val="E6FAF5"/>
          </a:solidFill>
          <a:ln w="9525">
            <a:solidFill>
              <a:srgbClr val="0D9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B76"/>
                </a:solidFill>
                <a:latin typeface="Calibri"/>
              </a:defRPr>
            </a:pPr>
            <a:r>
              <a:t>電子病歷 (EHR)</a:t>
            </a:r>
          </a:p>
          <a:p>
            <a:pPr>
              <a:defRPr sz="1400" b="1">
                <a:solidFill>
                  <a:srgbClr val="0D9B76"/>
                </a:solidFill>
                <a:latin typeface="Calibri"/>
              </a:defRPr>
            </a:pPr>
            <a:r>
              <a:t>數據分析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0332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利用 AI 分析電子病歷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改善臨床決策支持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926080"/>
            <a:ext cx="2606040" cy="1645920"/>
          </a:xfrm>
          <a:prstGeom prst="roundRect">
            <a:avLst/>
          </a:prstGeom>
          <a:solidFill>
            <a:srgbClr val="FDF0F3"/>
          </a:solidFill>
          <a:ln w="9525">
            <a:solidFill>
              <a:srgbClr val="A81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30632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81D35"/>
                </a:solidFill>
                <a:latin typeface="Calibri"/>
              </a:defRPr>
            </a:pPr>
            <a:r>
              <a:t>AI 診斷工具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370332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開發輔助診斷工具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提升早期疾病偵測能力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926080"/>
            <a:ext cx="2606040" cy="1645920"/>
          </a:xfrm>
          <a:prstGeom prst="roundRect">
            <a:avLst/>
          </a:prstGeom>
          <a:solidFill>
            <a:srgbClr val="FEF3E2"/>
          </a:solidFill>
          <a:ln w="9525">
            <a:solidFill>
              <a:srgbClr val="D48B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30632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48B0C"/>
                </a:solidFill>
                <a:latin typeface="Calibri"/>
              </a:defRPr>
            </a:pPr>
            <a:r>
              <a:t>臨床對話機器人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70332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建立智慧健康諮詢系統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改善醫病溝通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2926080"/>
            <a:ext cx="2606040" cy="164592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30632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  <a:latin typeface="Calibri"/>
              </a:defRPr>
            </a:pPr>
            <a:r>
              <a:t>醫療人力短缺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370332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運用 AI 優化人力配置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解決醫護人力不足問題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800599"/>
            <a:ext cx="2606040" cy="1645920"/>
          </a:xfrm>
          <a:prstGeom prst="roundRect">
            <a:avLst/>
          </a:prstGeom>
          <a:solidFill>
            <a:srgbClr val="FDF0F3"/>
          </a:solidFill>
          <a:ln w="9525">
            <a:solidFill>
              <a:srgbClr val="A81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937759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81D35"/>
                </a:solidFill>
                <a:latin typeface="Calibri"/>
              </a:defRPr>
            </a:pPr>
            <a:r>
              <a:t>心血管疾病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577839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運用數據驅動方法改善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心血管疾病預防與管理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66160" y="4800599"/>
            <a:ext cx="2606040" cy="1645920"/>
          </a:xfrm>
          <a:prstGeom prst="roundRect">
            <a:avLst/>
          </a:prstGeom>
          <a:solidFill>
            <a:srgbClr val="E6FAF5"/>
          </a:solidFill>
          <a:ln w="9525">
            <a:solidFill>
              <a:srgbClr val="0D9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49040" y="4937759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B76"/>
                </a:solidFill>
                <a:latin typeface="Calibri"/>
              </a:defRPr>
            </a:pPr>
            <a:r>
              <a:t>癌症照護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40" y="5577839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AI 輔助癌症篩檢、診斷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及個人化治療方案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800599"/>
            <a:ext cx="2606040" cy="1645920"/>
          </a:xfrm>
          <a:prstGeom prst="roundRect">
            <a:avLst/>
          </a:prstGeom>
          <a:solidFill>
            <a:srgbClr val="FEF3E2"/>
          </a:solidFill>
          <a:ln w="9525">
            <a:solidFill>
              <a:srgbClr val="D48B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4937759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48B0C"/>
                </a:solidFill>
                <a:latin typeface="Calibri"/>
              </a:defRPr>
            </a:pPr>
            <a:r>
              <a:t>心理健康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577839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利用科技改善心理健康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服務的可及性與品質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35440" y="4800599"/>
            <a:ext cx="2606040" cy="164592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0" y="4937759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  <a:latin typeface="Calibri"/>
              </a:defRPr>
            </a:pPr>
            <a:r>
              <a:t>傳染病防治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5577839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AI 驅動的流行病監測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與因應策略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 i="0">
                <a:solidFill>
                  <a:srgbClr val="64748B"/>
                </a:solidFill>
                <a:latin typeface="Calibri"/>
              </a:defRPr>
            </a:pPr>
            <a: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A8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A81D35"/>
                </a:solidFill>
                <a:latin typeface="Calibri"/>
              </a:defRPr>
            </a:pPr>
            <a:r>
              <a:t>TAIWAN HUB — 台灣站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6400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 i="0">
                <a:solidFill>
                  <a:srgbClr val="A81D35"/>
                </a:solidFill>
                <a:latin typeface="Calibri"/>
              </a:defRPr>
            </a:pPr>
            <a:r>
              <a:t>Taiwan's First Year — 台灣首次加入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64748B"/>
                </a:solidFill>
                <a:latin typeface="Calibri"/>
              </a:defRPr>
            </a:pPr>
            <a:r>
              <a:t>台灣首次加入全球 30+ 城市同步舉辦的健康創新盛會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2286000" cy="50800"/>
          </a:xfrm>
          <a:prstGeom prst="rect">
            <a:avLst/>
          </a:prstGeom>
          <a:solidFill>
            <a:srgbClr val="0D9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5212080" cy="7772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743200"/>
            <a:ext cx="201168" cy="201168"/>
          </a:xfrm>
          <a:prstGeom prst="ellipse">
            <a:avLst/>
          </a:prstGeom>
          <a:solidFill>
            <a:srgbClr val="0D9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5603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0D9B76"/>
                </a:solidFill>
                <a:latin typeface="Calibri"/>
              </a:defRPr>
            </a:pPr>
            <a:r>
              <a:t>活動日期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852928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1E293B"/>
                </a:solidFill>
                <a:latin typeface="Calibri"/>
              </a:defRPr>
            </a:pPr>
            <a:r>
              <a:t>2026 年 4 月 10–11 日（週五、六）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468880"/>
            <a:ext cx="5212080" cy="7772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37960" y="2743200"/>
            <a:ext cx="201168" cy="201168"/>
          </a:xfrm>
          <a:prstGeom prst="ellipse">
            <a:avLst/>
          </a:prstGeom>
          <a:solidFill>
            <a:srgbClr val="0D9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25603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0D9B76"/>
                </a:solidFill>
                <a:latin typeface="Calibri"/>
              </a:defRPr>
            </a:pPr>
            <a:r>
              <a:t>活動地點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852928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1E293B"/>
                </a:solidFill>
                <a:latin typeface="Calibri"/>
              </a:defRPr>
            </a:pPr>
            <a:r>
              <a:t>國立臺灣大學 公共衛生學院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56432"/>
            <a:ext cx="5212080" cy="7772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" y="3730752"/>
            <a:ext cx="201168" cy="201168"/>
          </a:xfrm>
          <a:prstGeom prst="ellipse">
            <a:avLst/>
          </a:prstGeom>
          <a:solidFill>
            <a:srgbClr val="A8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3547872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A81D35"/>
                </a:solidFill>
                <a:latin typeface="Calibri"/>
              </a:defRPr>
            </a:pPr>
            <a:r>
              <a:t>活動時長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84048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1E293B"/>
                </a:solidFill>
                <a:latin typeface="Calibri"/>
              </a:defRPr>
            </a:pPr>
            <a:r>
              <a:t>兩天（每天約 8 小時）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456432"/>
            <a:ext cx="5212080" cy="7772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37960" y="3730752"/>
            <a:ext cx="201168" cy="201168"/>
          </a:xfrm>
          <a:prstGeom prst="ellipse">
            <a:avLst/>
          </a:prstGeom>
          <a:solidFill>
            <a:srgbClr val="A8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3547872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A81D35"/>
                </a:solidFill>
                <a:latin typeface="Calibri"/>
              </a:defRPr>
            </a:pPr>
            <a:r>
              <a:t>團隊人數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84048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1E293B"/>
                </a:solidFill>
                <a:latin typeface="Calibri"/>
              </a:defRPr>
            </a:pPr>
            <a:r>
              <a:t>3–5 人一組（可個人報名，現場組隊）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443984"/>
            <a:ext cx="5212080" cy="7772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0120" y="4718304"/>
            <a:ext cx="201168" cy="201168"/>
          </a:xfrm>
          <a:prstGeom prst="ellipse">
            <a:avLst/>
          </a:prstGeom>
          <a:solidFill>
            <a:srgbClr val="D48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4535424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D48B0C"/>
                </a:solidFill>
                <a:latin typeface="Calibri"/>
              </a:defRPr>
            </a:pPr>
            <a:r>
              <a:t>最終產出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828032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1E293B"/>
                </a:solidFill>
                <a:latin typeface="Calibri"/>
              </a:defRPr>
            </a:pPr>
            <a:r>
              <a:t>3 分鐘 Pitch 簡報 + 2 分鐘 Q&amp;A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4443984"/>
            <a:ext cx="5212080" cy="7772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37960" y="4718304"/>
            <a:ext cx="201168" cy="201168"/>
          </a:xfrm>
          <a:prstGeom prst="ellipse">
            <a:avLst/>
          </a:prstGeom>
          <a:solidFill>
            <a:srgbClr val="D48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4535424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D48B0C"/>
                </a:solidFill>
                <a:latin typeface="Calibri"/>
              </a:defRPr>
            </a:pPr>
            <a:r>
              <a:t>活動語言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828032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1E293B"/>
                </a:solidFill>
                <a:latin typeface="Calibri"/>
              </a:defRPr>
            </a:pPr>
            <a:r>
              <a:t>中文為主、部分資料為英文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431536"/>
            <a:ext cx="5212080" cy="7772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60120" y="5705856"/>
            <a:ext cx="201168" cy="201168"/>
          </a:xfrm>
          <a:prstGeom prst="ellipse">
            <a:avLst/>
          </a:prstGeom>
          <a:solidFill>
            <a:srgbClr val="0D9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0160" y="5522976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0D9B76"/>
                </a:solidFill>
                <a:latin typeface="Calibri"/>
              </a:defRPr>
            </a:pPr>
            <a:r>
              <a:t>參加費用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5815584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1E293B"/>
                </a:solidFill>
                <a:latin typeface="Calibri"/>
              </a:defRPr>
            </a:pPr>
            <a:r>
              <a:t>完全免費（包含兩天午餐與活動物資）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5431536"/>
            <a:ext cx="5212080" cy="7772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537960" y="5705856"/>
            <a:ext cx="201168" cy="201168"/>
          </a:xfrm>
          <a:prstGeom prst="ellipse">
            <a:avLst/>
          </a:prstGeom>
          <a:solidFill>
            <a:srgbClr val="A8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0" y="5522976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A81D35"/>
                </a:solidFill>
                <a:latin typeface="Calibri"/>
              </a:defRPr>
            </a:pPr>
            <a:r>
              <a:t>報名截止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5815584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1E293B"/>
                </a:solidFill>
                <a:latin typeface="Calibri"/>
              </a:defRPr>
            </a:pPr>
            <a:r>
              <a:t>2026 年 3 月 31 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IG: @hsilhackathon.taiwan  ·  Email: hsilhackathon.taiwan@gmail.com  ·  Co-organized by NTU × Harvard HSIL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 i="0">
                <a:solidFill>
                  <a:srgbClr val="64748B"/>
                </a:solidFill>
                <a:latin typeface="Calibri"/>
              </a:defRPr>
            </a:pPr>
            <a: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8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D48B0C"/>
                </a:solidFill>
                <a:latin typeface="Calibri"/>
              </a:defRPr>
            </a:pPr>
            <a:r>
              <a:t>THE JOURNEY — 參賽流程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 i="0">
                <a:solidFill>
                  <a:srgbClr val="1E293B"/>
                </a:solidFill>
                <a:latin typeface="Calibri"/>
              </a:defRPr>
            </a:pPr>
            <a:r>
              <a:t>From Registration to Harvard Demo 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2743200" cy="50800"/>
          </a:xfrm>
          <a:prstGeom prst="rect">
            <a:avLst/>
          </a:prstGeom>
          <a:solidFill>
            <a:srgbClr val="D48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2011680" cy="3200400"/>
          </a:xfrm>
          <a:prstGeom prst="roundRect">
            <a:avLst/>
          </a:prstGeom>
          <a:solidFill>
            <a:srgbClr val="E6FAF5"/>
          </a:solidFill>
          <a:ln w="12700">
            <a:solidFill>
              <a:srgbClr val="0D9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8720" y="2331720"/>
            <a:ext cx="640080" cy="640080"/>
          </a:xfrm>
          <a:prstGeom prst="ellipse">
            <a:avLst/>
          </a:prstGeom>
          <a:solidFill>
            <a:srgbClr val="0D9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3172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5468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 i="0">
                <a:solidFill>
                  <a:srgbClr val="0D9B76"/>
                </a:solidFill>
                <a:latin typeface="Calibri"/>
              </a:defRPr>
            </a:pPr>
            <a:r>
              <a:t>線上報名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661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Now → 3/31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02336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1E293B"/>
                </a:solidFill>
                <a:latin typeface="Calibri"/>
              </a:defRPr>
            </a:pPr>
            <a:r>
              <a:t>填寫 Airtable</a:t>
            </a:r>
          </a:p>
          <a:p>
            <a:pPr algn="ctr">
              <a:defRPr sz="1200">
                <a:solidFill>
                  <a:srgbClr val="1E293B"/>
                </a:solidFill>
                <a:latin typeface="Calibri"/>
              </a:defRPr>
            </a:pPr>
            <a:r>
              <a:t>報名表單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474720"/>
            <a:ext cx="228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 i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8920" y="2103120"/>
            <a:ext cx="2011680" cy="3200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29000" y="233172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233172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15468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 i="0">
                <a:solidFill>
                  <a:srgbClr val="3B82F6"/>
                </a:solidFill>
                <a:latin typeface="Calibri"/>
              </a:defRPr>
            </a:pPr>
            <a:r>
              <a:t>錄取通知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35661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4 月初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02336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1E293B"/>
                </a:solidFill>
                <a:latin typeface="Calibri"/>
              </a:defRPr>
            </a:pPr>
            <a:r>
              <a:t>公布名單</a:t>
            </a:r>
          </a:p>
          <a:p>
            <a:pPr algn="ctr">
              <a:defRPr sz="1200">
                <a:solidFill>
                  <a:srgbClr val="1E293B"/>
                </a:solidFill>
                <a:latin typeface="Calibri"/>
              </a:defRPr>
            </a:pPr>
            <a:r>
              <a:t>寄送行前指南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3474720"/>
            <a:ext cx="228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 i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2103120"/>
            <a:ext cx="2011680" cy="3200400"/>
          </a:xfrm>
          <a:prstGeom prst="roundRect">
            <a:avLst/>
          </a:prstGeom>
          <a:solidFill>
            <a:srgbClr val="FDF0F3"/>
          </a:solidFill>
          <a:ln w="12700">
            <a:solidFill>
              <a:srgbClr val="A81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669280" y="2331720"/>
            <a:ext cx="640080" cy="640080"/>
          </a:xfrm>
          <a:prstGeom prst="ellipse">
            <a:avLst/>
          </a:prstGeom>
          <a:solidFill>
            <a:srgbClr val="A8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0" y="233172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15468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 i="0">
                <a:solidFill>
                  <a:srgbClr val="A81D35"/>
                </a:solidFill>
                <a:latin typeface="Calibri"/>
              </a:defRPr>
            </a:pPr>
            <a:r>
              <a:t>兩天黑客松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35661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4/10–11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402336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1E293B"/>
                </a:solidFill>
                <a:latin typeface="Calibri"/>
              </a:defRPr>
            </a:pPr>
            <a:r>
              <a:t>組隊·腦力激盪</a:t>
            </a:r>
          </a:p>
          <a:p>
            <a:pPr algn="ctr">
              <a:defRPr sz="1200">
                <a:solidFill>
                  <a:srgbClr val="1E293B"/>
                </a:solidFill>
                <a:latin typeface="Calibri"/>
              </a:defRPr>
            </a:pPr>
            <a:r>
              <a:t>導師指導·方案發想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3474720"/>
            <a:ext cx="228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 i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69480" y="2103120"/>
            <a:ext cx="2011680" cy="3200400"/>
          </a:xfrm>
          <a:prstGeom prst="roundRect">
            <a:avLst/>
          </a:prstGeom>
          <a:solidFill>
            <a:srgbClr val="FEF3E2"/>
          </a:solidFill>
          <a:ln w="12700">
            <a:solidFill>
              <a:srgbClr val="D48B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909560" y="2331720"/>
            <a:ext cx="640080" cy="640080"/>
          </a:xfrm>
          <a:prstGeom prst="ellipse">
            <a:avLst/>
          </a:prstGeom>
          <a:solidFill>
            <a:srgbClr val="D48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9560" y="233172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315468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 i="0">
                <a:solidFill>
                  <a:srgbClr val="D48B0C"/>
                </a:solidFill>
                <a:latin typeface="Calibri"/>
              </a:defRPr>
            </a:pPr>
            <a:r>
              <a:t>團隊 Pitch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35661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4/11 下午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402336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1E293B"/>
                </a:solidFill>
                <a:latin typeface="Calibri"/>
              </a:defRPr>
            </a:pPr>
            <a:r>
              <a:t>3 分鐘簡報</a:t>
            </a:r>
          </a:p>
          <a:p>
            <a:pPr algn="ctr">
              <a:defRPr sz="1200">
                <a:solidFill>
                  <a:srgbClr val="1E293B"/>
                </a:solidFill>
                <a:latin typeface="Calibri"/>
              </a:defRPr>
            </a:pPr>
            <a:r>
              <a:t>2 分鐘 Q&amp;A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60" y="3474720"/>
            <a:ext cx="228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 i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09760" y="2103120"/>
            <a:ext cx="2011680" cy="3200400"/>
          </a:xfrm>
          <a:prstGeom prst="roundRect">
            <a:avLst/>
          </a:prstGeom>
          <a:solidFill>
            <a:srgbClr val="FDF0F3"/>
          </a:solidFill>
          <a:ln w="12700">
            <a:solidFill>
              <a:srgbClr val="A81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149840" y="2331720"/>
            <a:ext cx="640080" cy="640080"/>
          </a:xfrm>
          <a:prstGeom prst="ellipse">
            <a:avLst/>
          </a:prstGeom>
          <a:solidFill>
            <a:srgbClr val="A8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49840" y="233172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315468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 i="0">
                <a:solidFill>
                  <a:srgbClr val="A81D35"/>
                </a:solidFill>
                <a:latin typeface="Calibri"/>
              </a:defRPr>
            </a:pPr>
            <a:r>
              <a:t>哈佛 Bootcamp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35661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5–6 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46920" y="402336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1E293B"/>
                </a:solidFill>
                <a:latin typeface="Calibri"/>
              </a:defRPr>
            </a:pPr>
            <a:r>
              <a:t>前兩名培訓</a:t>
            </a:r>
          </a:p>
          <a:p>
            <a:pPr algn="ctr">
              <a:defRPr sz="1200">
                <a:solidFill>
                  <a:srgbClr val="1E293B"/>
                </a:solidFill>
                <a:latin typeface="Calibri"/>
              </a:defRPr>
            </a:pPr>
            <a:r>
              <a:t>6/19 哈佛 Demo Day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5669280"/>
            <a:ext cx="10698480" cy="731520"/>
          </a:xfrm>
          <a:prstGeom prst="roundRect">
            <a:avLst/>
          </a:prstGeom>
          <a:solidFill>
            <a:srgbClr val="FEF3E2"/>
          </a:solidFill>
          <a:ln w="6350">
            <a:solidFill>
              <a:srgbClr val="D48B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" y="5806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 i="0">
                <a:solidFill>
                  <a:srgbClr val="D48B0C"/>
                </a:solidFill>
                <a:latin typeface="Calibri"/>
              </a:defRPr>
            </a:pPr>
            <a:r>
              <a:t>兩天的黑客松，有可能帶你走到哈佛。 — Top 2 teams represent Taiwan at Harvard Demo Day (June 19, 2026)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 i="0">
                <a:solidFill>
                  <a:srgbClr val="64748B"/>
                </a:solidFill>
                <a:latin typeface="Calibri"/>
              </a:defRPr>
            </a:pPr>
            <a: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A8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A81D35"/>
                </a:solidFill>
                <a:latin typeface="Calibri"/>
              </a:defRPr>
            </a:pPr>
            <a:r>
              <a:t>DETAILED SCHEDULE — 活動時程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 i="0">
                <a:solidFill>
                  <a:srgbClr val="A81D35"/>
                </a:solidFill>
                <a:latin typeface="Calibri"/>
              </a:defRPr>
            </a:pPr>
            <a:r>
              <a:t>Two Days at NTU — April 10 &amp; 11,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2286000" cy="50800"/>
          </a:xfrm>
          <a:prstGeom prst="rect">
            <a:avLst/>
          </a:prstGeom>
          <a:solidFill>
            <a:srgbClr val="A8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394960" cy="502920"/>
          </a:xfrm>
          <a:prstGeom prst="roundRect">
            <a:avLst/>
          </a:prstGeom>
          <a:solidFill>
            <a:srgbClr val="A8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Day 1 — 4 月 10 日（週五）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539496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50592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64748B"/>
                </a:solidFill>
                <a:latin typeface="Calibri"/>
              </a:defRPr>
            </a:pPr>
            <a:r>
              <a:t>08:00–09:00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450592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</a:defRPr>
            </a:pPr>
            <a:r>
              <a:t>報到與入場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89504"/>
            <a:ext cx="539496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62656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64748B"/>
                </a:solidFill>
                <a:latin typeface="Calibri"/>
              </a:defRPr>
            </a:pPr>
            <a:r>
              <a:t>09:00–09:30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962656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</a:defRPr>
            </a:pPr>
            <a:r>
              <a:t>開幕式與歡迎致詞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01568"/>
            <a:ext cx="539496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474720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64748B"/>
                </a:solidFill>
                <a:latin typeface="Calibri"/>
              </a:defRPr>
            </a:pPr>
            <a:r>
              <a:t>09:30–10:00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347472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</a:defRPr>
            </a:pPr>
            <a:r>
              <a:t>問題定義與挑戰說明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13632"/>
            <a:ext cx="539496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86784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64748B"/>
                </a:solidFill>
                <a:latin typeface="Calibri"/>
              </a:defRPr>
            </a:pPr>
            <a:r>
              <a:t>10:00–10:30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3986784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</a:defRPr>
            </a:pPr>
            <a:r>
              <a:t>團隊組成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425696"/>
            <a:ext cx="539496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498848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64748B"/>
                </a:solidFill>
                <a:latin typeface="Calibri"/>
              </a:defRPr>
            </a:pPr>
            <a:r>
              <a:t>10:30–12:30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449884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</a:defRPr>
            </a:pPr>
            <a:r>
              <a:t>團隊腦力激盪與問題探索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937760"/>
            <a:ext cx="539496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010912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64748B"/>
                </a:solidFill>
                <a:latin typeface="Calibri"/>
              </a:defRPr>
            </a:pPr>
            <a:r>
              <a:t>12:30–13:30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5010912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</a:defRPr>
            </a:pPr>
            <a:r>
              <a:t>午餐與交流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449824"/>
            <a:ext cx="539496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522976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64748B"/>
                </a:solidFill>
                <a:latin typeface="Calibri"/>
              </a:defRPr>
            </a:pPr>
            <a:r>
              <a:t>13:30–17:00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5522976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</a:defRPr>
            </a:pPr>
            <a:r>
              <a:t>方案發想與原型開發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961888"/>
            <a:ext cx="539496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6035040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64748B"/>
                </a:solidFill>
                <a:latin typeface="Calibri"/>
              </a:defRPr>
            </a:pPr>
            <a:r>
              <a:t>17:00–17:30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0" y="603504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</a:defRPr>
            </a:pPr>
            <a:r>
              <a:t>導師諮詢時段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1737360"/>
            <a:ext cx="5394960" cy="502920"/>
          </a:xfrm>
          <a:prstGeom prst="roundRect">
            <a:avLst/>
          </a:prstGeom>
          <a:solidFill>
            <a:srgbClr val="0D9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178308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Day 2 — 4 月 11 日（週六）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2377440"/>
            <a:ext cx="539496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2450592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64748B"/>
                </a:solidFill>
                <a:latin typeface="Calibri"/>
              </a:defRPr>
            </a:pPr>
            <a:r>
              <a:t>08:30–09:00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2450592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</a:defRPr>
            </a:pPr>
            <a:r>
              <a:t>報到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2889504"/>
            <a:ext cx="539496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2962656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64748B"/>
                </a:solidFill>
                <a:latin typeface="Calibri"/>
              </a:defRPr>
            </a:pPr>
            <a:r>
              <a:t>09:00–12:00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2962656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</a:defRPr>
            </a:pPr>
            <a:r>
              <a:t>方案精煉與簡報準備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3401568"/>
            <a:ext cx="539496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3474720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64748B"/>
                </a:solidFill>
                <a:latin typeface="Calibri"/>
              </a:defRPr>
            </a:pPr>
            <a:r>
              <a:t>12:00–13:00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347472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</a:defRPr>
            </a:pPr>
            <a:r>
              <a:t>午餐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3913632"/>
            <a:ext cx="539496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0" y="3986784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64748B"/>
                </a:solidFill>
                <a:latin typeface="Calibri"/>
              </a:defRPr>
            </a:pPr>
            <a:r>
              <a:t>13:00–13:30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3986784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</a:defRPr>
            </a:pPr>
            <a:r>
              <a:t>簡報練習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0" y="4425696"/>
            <a:ext cx="539496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0" y="4498848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64748B"/>
                </a:solidFill>
                <a:latin typeface="Calibri"/>
              </a:defRPr>
            </a:pPr>
            <a:r>
              <a:t>13:30–15:30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449884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</a:defRPr>
            </a:pPr>
            <a:r>
              <a:t>團隊 Pitch 簡報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0" y="4937760"/>
            <a:ext cx="539496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0" y="5010912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64748B"/>
                </a:solidFill>
                <a:latin typeface="Calibri"/>
              </a:defRPr>
            </a:pPr>
            <a:r>
              <a:t>15:30–16:00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5010912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</a:defRPr>
            </a:pPr>
            <a:r>
              <a:t>評審討論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0" y="5449824"/>
            <a:ext cx="539496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3680" y="5522976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64748B"/>
                </a:solidFill>
                <a:latin typeface="Calibri"/>
              </a:defRPr>
            </a:pPr>
            <a:r>
              <a:t>16:00–16:30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0" y="5522976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</a:defRPr>
            </a:pPr>
            <a:r>
              <a:t>頒獎典禮與閉幕式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00800" y="5961888"/>
            <a:ext cx="539496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83680" y="6035040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64748B"/>
                </a:solidFill>
                <a:latin typeface="Calibri"/>
              </a:defRPr>
            </a:pPr>
            <a:r>
              <a:t>16:30–17:00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0" y="603504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</a:defRPr>
            </a:pPr>
            <a:r>
              <a:t>交流與合影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31520" y="6400800"/>
            <a:ext cx="11064240" cy="320040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05840" y="64008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D48B0C"/>
                </a:solidFill>
                <a:latin typeface="Calibri"/>
              </a:defRPr>
            </a:pPr>
            <a:r>
              <a:t>Post-Event:  5 月 — 優勝隊伍方案精煉  ·  6/19 — 哈佛 Demo Day 向全球評審展示方案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 i="0">
                <a:solidFill>
                  <a:srgbClr val="64748B"/>
                </a:solidFill>
                <a:latin typeface="Calibri"/>
              </a:defRPr>
            </a:pPr>
            <a: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0D9B76"/>
                </a:solidFill>
                <a:latin typeface="Calibri"/>
              </a:defRPr>
            </a:pPr>
            <a:r>
              <a:t>WHO CAN JOIN — 誰可以參加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 i="0">
                <a:solidFill>
                  <a:srgbClr val="1E293B"/>
                </a:solidFill>
                <a:latin typeface="Calibri"/>
              </a:defRPr>
            </a:pPr>
            <a:r>
              <a:t>This Hackathon Is For Everyone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64748B"/>
                </a:solidFill>
                <a:latin typeface="Calibri"/>
              </a:defRPr>
            </a:pPr>
            <a:r>
              <a:t>HSIL Hackathon 歡迎所有對健康系統創新有興趣的人參加，不限科系、不限年級、不需程式背景。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2286000" cy="50800"/>
          </a:xfrm>
          <a:prstGeom prst="rect">
            <a:avLst/>
          </a:prstGeom>
          <a:solidFill>
            <a:srgbClr val="0D9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2560320" cy="640080"/>
          </a:xfrm>
          <a:prstGeom prst="roundRect">
            <a:avLst/>
          </a:prstGeom>
          <a:solidFill>
            <a:srgbClr val="FDF0F3"/>
          </a:solidFill>
          <a:ln w="9525">
            <a:solidFill>
              <a:srgbClr val="A81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95728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 i="0">
                <a:solidFill>
                  <a:srgbClr val="A81D35"/>
                </a:solidFill>
                <a:latin typeface="Calibri"/>
              </a:defRPr>
            </a:pPr>
            <a:r>
              <a:t>醫學 Medicine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286000"/>
            <a:ext cx="2560320" cy="640080"/>
          </a:xfrm>
          <a:prstGeom prst="roundRect">
            <a:avLst/>
          </a:prstGeom>
          <a:solidFill>
            <a:srgbClr val="E6FAF5"/>
          </a:solidFill>
          <a:ln w="9525">
            <a:solidFill>
              <a:srgbClr val="0D9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2395728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 i="0">
                <a:solidFill>
                  <a:srgbClr val="0D9B76"/>
                </a:solidFill>
                <a:latin typeface="Calibri"/>
              </a:defRPr>
            </a:pPr>
            <a:r>
              <a:t>公衛 Public Health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286000"/>
            <a:ext cx="2560320" cy="64008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395728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 i="0">
                <a:solidFill>
                  <a:srgbClr val="3B82F6"/>
                </a:solidFill>
                <a:latin typeface="Calibri"/>
              </a:defRPr>
            </a:pPr>
            <a:r>
              <a:t>資工 Computer Science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2286000"/>
            <a:ext cx="2560320" cy="640080"/>
          </a:xfrm>
          <a:prstGeom prst="roundRect">
            <a:avLst/>
          </a:prstGeom>
          <a:solidFill>
            <a:srgbClr val="FEF3E2"/>
          </a:solidFill>
          <a:ln w="9525">
            <a:solidFill>
              <a:srgbClr val="D48B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2395728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 i="0">
                <a:solidFill>
                  <a:srgbClr val="D48B0C"/>
                </a:solidFill>
                <a:latin typeface="Calibri"/>
              </a:defRPr>
            </a:pPr>
            <a:r>
              <a:t>商管 Business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108960"/>
            <a:ext cx="2560320" cy="640080"/>
          </a:xfrm>
          <a:prstGeom prst="roundRect">
            <a:avLst/>
          </a:prstGeom>
          <a:solidFill>
            <a:srgbClr val="F3E8FF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218688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 i="0">
                <a:solidFill>
                  <a:srgbClr val="8B5CF6"/>
                </a:solidFill>
                <a:latin typeface="Calibri"/>
              </a:defRPr>
            </a:pPr>
            <a:r>
              <a:t>設計 Design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0" y="3108960"/>
            <a:ext cx="2560320" cy="640080"/>
          </a:xfrm>
          <a:prstGeom prst="roundRect">
            <a:avLst/>
          </a:prstGeom>
          <a:solidFill>
            <a:srgbClr val="E6FAF5"/>
          </a:solidFill>
          <a:ln w="9525">
            <a:solidFill>
              <a:srgbClr val="0D9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0" y="3218688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 i="0">
                <a:solidFill>
                  <a:srgbClr val="0D9B76"/>
                </a:solidFill>
                <a:latin typeface="Calibri"/>
              </a:defRPr>
            </a:pPr>
            <a:r>
              <a:t>工程 Engineering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108960"/>
            <a:ext cx="2560320" cy="640080"/>
          </a:xfrm>
          <a:prstGeom prst="roundRect">
            <a:avLst/>
          </a:prstGeom>
          <a:solidFill>
            <a:srgbClr val="FDF0F3"/>
          </a:solidFill>
          <a:ln w="9525">
            <a:solidFill>
              <a:srgbClr val="A81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218688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 i="0">
                <a:solidFill>
                  <a:srgbClr val="A81D35"/>
                </a:solidFill>
                <a:latin typeface="Calibri"/>
              </a:defRPr>
            </a:pPr>
            <a:r>
              <a:t>法律 Law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3108960"/>
            <a:ext cx="2560320" cy="640080"/>
          </a:xfrm>
          <a:prstGeom prst="roundRect">
            <a:avLst/>
          </a:prstGeom>
          <a:solidFill>
            <a:srgbClr val="FEF3E2"/>
          </a:solidFill>
          <a:ln w="9525">
            <a:solidFill>
              <a:srgbClr val="D48B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3218688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 i="0">
                <a:solidFill>
                  <a:srgbClr val="D48B0C"/>
                </a:solidFill>
                <a:latin typeface="Calibri"/>
              </a:defRPr>
            </a:pPr>
            <a:r>
              <a:t>社科 Social Science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114800"/>
            <a:ext cx="10972800" cy="2560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20624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0D9B76"/>
                </a:solidFill>
                <a:latin typeface="Calibri"/>
              </a:defRPr>
            </a:pPr>
            <a:r>
              <a:t>Eligibility Requirements 報名資格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617720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0D9B7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46177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1E293B"/>
                </a:solidFill>
                <a:latin typeface="Calibri"/>
              </a:defRPr>
            </a:pPr>
            <a:r>
              <a:t>大學生、研究生、博士生皆可報名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946904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0D9B7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4946904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1E293B"/>
                </a:solidFill>
                <a:latin typeface="Calibri"/>
              </a:defRPr>
            </a:pPr>
            <a:r>
              <a:t>不限科系 — 醫學、公衛、商管、設計、工程、法律、社會科學⋯都歡迎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276088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0D9B7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527608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1E293B"/>
                </a:solidFill>
                <a:latin typeface="Calibri"/>
              </a:defRPr>
            </a:pPr>
            <a:r>
              <a:t>不需會寫程式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605272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0D9B7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60527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1E293B"/>
                </a:solidFill>
                <a:latin typeface="Calibri"/>
              </a:defRPr>
            </a:pPr>
            <a:r>
              <a:t>可個人報名，活動當天現場組隊（3–5 人一組）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934456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0D9B7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5934456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1E293B"/>
                </a:solidFill>
                <a:latin typeface="Calibri"/>
              </a:defRPr>
            </a:pPr>
            <a:r>
              <a:t>須全程參與兩天活動（4/10–11）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6263640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0D9B7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25880" y="626364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1E293B"/>
                </a:solidFill>
                <a:latin typeface="Calibri"/>
              </a:defRPr>
            </a:pPr>
            <a:r>
              <a:t>須在 3/31 前完成線上報名表單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 i="0">
                <a:solidFill>
                  <a:srgbClr val="64748B"/>
                </a:solidFill>
                <a:latin typeface="Calibri"/>
              </a:defRPr>
            </a:pPr>
            <a: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8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D48B0C"/>
                </a:solidFill>
                <a:latin typeface="Calibri"/>
              </a:defRPr>
            </a:pPr>
            <a:r>
              <a:t>WHY JOIN — 為什麼要參加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 i="0">
                <a:solidFill>
                  <a:srgbClr val="A81D35"/>
                </a:solidFill>
                <a:latin typeface="Calibri"/>
              </a:defRPr>
            </a:pPr>
            <a:r>
              <a:t>6 Reasons You Can't Miss This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2286000" cy="50800"/>
          </a:xfrm>
          <a:prstGeom prst="rect">
            <a:avLst/>
          </a:prstGeom>
          <a:solidFill>
            <a:srgbClr val="D48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474720" cy="1737360"/>
          </a:xfrm>
          <a:prstGeom prst="roundRect">
            <a:avLst/>
          </a:prstGeom>
          <a:solidFill>
            <a:srgbClr val="E6FAF5"/>
          </a:solidFill>
          <a:ln w="9525">
            <a:solidFill>
              <a:srgbClr val="0D9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 i="0">
                <a:solidFill>
                  <a:srgbClr val="0D9B76"/>
                </a:solidFill>
                <a:latin typeface="Calibri"/>
              </a:defRPr>
            </a:pPr>
            <a:r>
              <a:t>完全免費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  <a:latin typeface="Calibri"/>
              </a:defRPr>
            </a:pPr>
            <a:r>
              <a:t>無任何報名費或參加費用</a:t>
            </a:r>
          </a:p>
          <a:p>
            <a:pPr>
              <a:defRPr sz="1300">
                <a:solidFill>
                  <a:srgbClr val="1E293B"/>
                </a:solidFill>
                <a:latin typeface="Calibri"/>
              </a:defRPr>
            </a:pPr>
            <a:r>
              <a:t>包含兩天午餐與活動物資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920240"/>
            <a:ext cx="3474720" cy="1737360"/>
          </a:xfrm>
          <a:prstGeom prst="roundRect">
            <a:avLst/>
          </a:prstGeom>
          <a:solidFill>
            <a:srgbClr val="FDF0F3"/>
          </a:solidFill>
          <a:ln w="9525">
            <a:solidFill>
              <a:srgbClr val="A81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210312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 i="0">
                <a:solidFill>
                  <a:srgbClr val="A81D35"/>
                </a:solidFill>
                <a:latin typeface="Calibri"/>
              </a:defRPr>
            </a:pPr>
            <a:r>
              <a:t>不需程式背景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25603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  <a:latin typeface="Calibri"/>
              </a:defRPr>
            </a:pPr>
            <a:r>
              <a:t>重視創意思維與跨領域合作</a:t>
            </a:r>
          </a:p>
          <a:p>
            <a:pPr>
              <a:defRPr sz="1300">
                <a:solidFill>
                  <a:srgbClr val="1E293B"/>
                </a:solidFill>
                <a:latin typeface="Calibri"/>
              </a:defRPr>
            </a:pPr>
            <a:r>
              <a:t>產出是 Pitch 簡報，不需寫 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598" y="1920240"/>
            <a:ext cx="3474720" cy="1737360"/>
          </a:xfrm>
          <a:prstGeom prst="roundRect">
            <a:avLst/>
          </a:prstGeom>
          <a:solidFill>
            <a:srgbClr val="FEF3E2"/>
          </a:solidFill>
          <a:ln w="9525">
            <a:solidFill>
              <a:srgbClr val="D48B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18" y="210312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 i="0">
                <a:solidFill>
                  <a:srgbClr val="D48B0C"/>
                </a:solidFill>
                <a:latin typeface="Calibri"/>
              </a:defRPr>
            </a:pPr>
            <a:r>
              <a:t>哈佛 Bootcamp 機會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8" y="25603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  <a:latin typeface="Calibri"/>
              </a:defRPr>
            </a:pPr>
            <a:r>
              <a:t>優勝隊伍將獲邀參加哈佛大學</a:t>
            </a:r>
          </a:p>
          <a:p>
            <a:pPr>
              <a:defRPr sz="1300">
                <a:solidFill>
                  <a:srgbClr val="1E293B"/>
                </a:solidFill>
                <a:latin typeface="Calibri"/>
              </a:defRPr>
            </a:pPr>
            <a:r>
              <a:t>Demo Day 及 Bootcamp 培訓計畫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3474720" cy="1737360"/>
          </a:xfrm>
          <a:prstGeom prst="roundRect">
            <a:avLst/>
          </a:prstGeom>
          <a:solidFill>
            <a:srgbClr val="E6FAF5"/>
          </a:solidFill>
          <a:ln w="9525">
            <a:solidFill>
              <a:srgbClr val="0D9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11480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 i="0">
                <a:solidFill>
                  <a:srgbClr val="0D9B76"/>
                </a:solidFill>
                <a:latin typeface="Calibri"/>
              </a:defRPr>
            </a:pPr>
            <a:r>
              <a:t>專業導師指導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5720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  <a:latin typeface="Calibri"/>
              </a:defRPr>
            </a:pPr>
            <a:r>
              <a:t>活動期間配有來自醫療、科技、</a:t>
            </a:r>
          </a:p>
          <a:p>
            <a:pPr>
              <a:defRPr sz="1300">
                <a:solidFill>
                  <a:srgbClr val="1E293B"/>
                </a:solidFill>
                <a:latin typeface="Calibri"/>
              </a:defRPr>
            </a:pPr>
            <a:r>
              <a:t>商業領域的專業導師全程指導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59" y="3931920"/>
            <a:ext cx="3474720" cy="1737360"/>
          </a:xfrm>
          <a:prstGeom prst="roundRect">
            <a:avLst/>
          </a:prstGeom>
          <a:solidFill>
            <a:srgbClr val="FDF0F3"/>
          </a:solidFill>
          <a:ln w="9525">
            <a:solidFill>
              <a:srgbClr val="A81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79" y="411480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 i="0">
                <a:solidFill>
                  <a:srgbClr val="A81D35"/>
                </a:solidFill>
                <a:latin typeface="Calibri"/>
              </a:defRPr>
            </a:pPr>
            <a:r>
              <a:t>跨領域交流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79" y="45720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  <a:latin typeface="Calibri"/>
              </a:defRPr>
            </a:pPr>
            <a:r>
              <a:t>認識來自醫學、設計、工程、商管、</a:t>
            </a:r>
          </a:p>
          <a:p>
            <a:pPr>
              <a:defRPr sz="1300">
                <a:solidFill>
                  <a:srgbClr val="1E293B"/>
                </a:solidFill>
                <a:latin typeface="Calibri"/>
              </a:defRPr>
            </a:pPr>
            <a:r>
              <a:t>法律等不同領域的優秀夥伴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598" y="3931920"/>
            <a:ext cx="3474720" cy="1737360"/>
          </a:xfrm>
          <a:prstGeom prst="roundRect">
            <a:avLst/>
          </a:prstGeom>
          <a:solidFill>
            <a:srgbClr val="FEF3E2"/>
          </a:solidFill>
          <a:ln w="9525">
            <a:solidFill>
              <a:srgbClr val="D48B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18" y="411480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 i="0">
                <a:solidFill>
                  <a:srgbClr val="D48B0C"/>
                </a:solidFill>
                <a:latin typeface="Calibri"/>
              </a:defRPr>
            </a:pPr>
            <a:r>
              <a:t>解決真實問題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8" y="45720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  <a:latin typeface="Calibri"/>
              </a:defRPr>
            </a:pPr>
            <a:r>
              <a:t>針對台灣及全球健康系統面臨的</a:t>
            </a:r>
          </a:p>
          <a:p>
            <a:pPr>
              <a:defRPr sz="1300">
                <a:solidFill>
                  <a:srgbClr val="1E293B"/>
                </a:solidFill>
                <a:latin typeface="Calibri"/>
              </a:defRPr>
            </a:pPr>
            <a:r>
              <a:t>真實挑戰提出解方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6035040"/>
            <a:ext cx="10698480" cy="6400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612648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  <a:latin typeface="Calibri"/>
              </a:defRPr>
            </a:pPr>
            <a:r>
              <a:t>FAQ:  智慧財產權完全歸屬參賽團隊  ·  團隊簡報可選擇中文或英文  ·  建議自備筆電（非強制）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 i="0">
                <a:solidFill>
                  <a:srgbClr val="64748B"/>
                </a:solidFill>
                <a:latin typeface="Calibri"/>
              </a:defRPr>
            </a:pPr>
            <a: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A8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A81D35"/>
                </a:solidFill>
                <a:latin typeface="Calibri"/>
              </a:defRPr>
            </a:pPr>
            <a:r>
              <a:t>JUDGING — 評審標準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 i="0">
                <a:solidFill>
                  <a:srgbClr val="A81D35"/>
                </a:solidFill>
                <a:latin typeface="Calibri"/>
              </a:defRPr>
            </a:pPr>
            <a:r>
              <a:t>How Teams Are Evaluated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 i="0">
                <a:solidFill>
                  <a:srgbClr val="64748B"/>
                </a:solidFill>
                <a:latin typeface="Calibri"/>
              </a:defRPr>
            </a:pPr>
            <a:r>
              <a:t>6 criteria  ×  5 points each  =  30 points total  ·  總分：30 分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828800" cy="50800"/>
          </a:xfrm>
          <a:prstGeom prst="rect">
            <a:avLst/>
          </a:prstGeom>
          <a:solidFill>
            <a:srgbClr val="A8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81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514600"/>
            <a:ext cx="594360" cy="594360"/>
          </a:xfrm>
          <a:prstGeom prst="ellipse">
            <a:avLst/>
          </a:prstGeom>
          <a:solidFill>
            <a:srgbClr val="A8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14600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5146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 i="0">
                <a:solidFill>
                  <a:srgbClr val="A81D35"/>
                </a:solidFill>
                <a:latin typeface="Calibri"/>
              </a:defRPr>
            </a:pPr>
            <a:r>
              <a:t>創新性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83464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1">
                <a:solidFill>
                  <a:srgbClr val="64748B"/>
                </a:solidFill>
                <a:latin typeface="Calibri"/>
              </a:defRPr>
            </a:pPr>
            <a:r>
              <a:t>Innovation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33756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1E293B"/>
                </a:solidFill>
                <a:latin typeface="Calibri"/>
              </a:defRPr>
            </a:pPr>
            <a:r>
              <a:t>方案是否具有原創性與創新思維？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228600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709159" y="2514600"/>
            <a:ext cx="594360" cy="594360"/>
          </a:xfrm>
          <a:prstGeom prst="ellipse">
            <a:avLst/>
          </a:prstGeom>
          <a:solidFill>
            <a:srgbClr val="0D9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59" y="2514600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399" y="25146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 i="0">
                <a:solidFill>
                  <a:srgbClr val="0D9B76"/>
                </a:solidFill>
                <a:latin typeface="Calibri"/>
              </a:defRPr>
            </a:pPr>
            <a:r>
              <a:t>可行性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399" y="283464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1">
                <a:solidFill>
                  <a:srgbClr val="64748B"/>
                </a:solidFill>
                <a:latin typeface="Calibri"/>
              </a:defRPr>
            </a:pPr>
            <a:r>
              <a:t>Feasibility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59" y="333756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1E293B"/>
                </a:solidFill>
                <a:latin typeface="Calibri"/>
              </a:defRPr>
            </a:pPr>
            <a:r>
              <a:t>方案在技術和資源上是否可行？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598" y="228600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8B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58198" y="2514600"/>
            <a:ext cx="594360" cy="594360"/>
          </a:xfrm>
          <a:prstGeom prst="ellipse">
            <a:avLst/>
          </a:prstGeom>
          <a:solidFill>
            <a:srgbClr val="D48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198" y="2514600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38" y="25146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 i="0">
                <a:solidFill>
                  <a:srgbClr val="D48B0C"/>
                </a:solidFill>
                <a:latin typeface="Calibri"/>
              </a:defRPr>
            </a:pPr>
            <a:r>
              <a:t>健康影響力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38" y="283464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1">
                <a:solidFill>
                  <a:srgbClr val="64748B"/>
                </a:solidFill>
                <a:latin typeface="Calibri"/>
              </a:defRPr>
            </a:pPr>
            <a:r>
              <a:t>Health 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198" y="333756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1E293B"/>
                </a:solidFill>
                <a:latin typeface="Calibri"/>
              </a:defRPr>
            </a:pPr>
            <a:r>
              <a:t>對健康系統的改善潛力有多大？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38912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81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60120" y="4617720"/>
            <a:ext cx="594360" cy="594360"/>
          </a:xfrm>
          <a:prstGeom prst="ellipse">
            <a:avLst/>
          </a:prstGeom>
          <a:solidFill>
            <a:srgbClr val="A8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617720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46177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 i="0">
                <a:solidFill>
                  <a:srgbClr val="A81D35"/>
                </a:solidFill>
                <a:latin typeface="Calibri"/>
              </a:defRPr>
            </a:pPr>
            <a:r>
              <a:t>可擴展性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493776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1">
                <a:solidFill>
                  <a:srgbClr val="64748B"/>
                </a:solidFill>
                <a:latin typeface="Calibri"/>
              </a:defRPr>
            </a:pPr>
            <a:r>
              <a:t>Scalability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544068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1E293B"/>
                </a:solidFill>
                <a:latin typeface="Calibri"/>
              </a:defRPr>
            </a:pPr>
            <a:r>
              <a:t>方案能否推廣到更大規模？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80559" y="438912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709159" y="4617720"/>
            <a:ext cx="594360" cy="594360"/>
          </a:xfrm>
          <a:prstGeom prst="ellipse">
            <a:avLst/>
          </a:prstGeom>
          <a:solidFill>
            <a:srgbClr val="0D9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9159" y="4617720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399" y="46177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 i="0">
                <a:solidFill>
                  <a:srgbClr val="0D9B76"/>
                </a:solidFill>
                <a:latin typeface="Calibri"/>
              </a:defRPr>
            </a:pPr>
            <a:r>
              <a:t>簡報品質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399" y="493776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1">
                <a:solidFill>
                  <a:srgbClr val="64748B"/>
                </a:solidFill>
                <a:latin typeface="Calibri"/>
              </a:defRPr>
            </a:pPr>
            <a:r>
              <a:t>Presentation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9159" y="544068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1E293B"/>
                </a:solidFill>
                <a:latin typeface="Calibri"/>
              </a:defRPr>
            </a:pPr>
            <a:r>
              <a:t>團隊的表達與展示是否清晰有力？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598" y="438912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8B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458198" y="4617720"/>
            <a:ext cx="594360" cy="594360"/>
          </a:xfrm>
          <a:prstGeom prst="ellipse">
            <a:avLst/>
          </a:prstGeom>
          <a:solidFill>
            <a:srgbClr val="D48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58198" y="4617720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38" y="46177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 i="0">
                <a:solidFill>
                  <a:srgbClr val="D48B0C"/>
                </a:solidFill>
                <a:latin typeface="Calibri"/>
              </a:defRPr>
            </a:pPr>
            <a:r>
              <a:t>AI 應用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38" y="493776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1">
                <a:solidFill>
                  <a:srgbClr val="64748B"/>
                </a:solidFill>
                <a:latin typeface="Calibri"/>
              </a:defRPr>
            </a:pPr>
            <a:r>
              <a:t>AI Integration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198" y="544068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1E293B"/>
                </a:solidFill>
                <a:latin typeface="Calibri"/>
              </a:defRPr>
            </a:pPr>
            <a:r>
              <a:t>AI 技術是否被有效且合理地應用？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 i="0">
                <a:solidFill>
                  <a:srgbClr val="64748B"/>
                </a:solidFill>
                <a:latin typeface="Calibri"/>
              </a:defRPr>
            </a:pPr>
            <a: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8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91695" cy="36576"/>
          </a:xfrm>
          <a:prstGeom prst="rect">
            <a:avLst/>
          </a:prstGeom>
          <a:solidFill>
            <a:srgbClr val="0D9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600" b="1" i="0">
                <a:solidFill>
                  <a:srgbClr val="A81D35"/>
                </a:solidFill>
                <a:latin typeface="Calibri"/>
              </a:defRPr>
            </a:pPr>
            <a:r>
              <a:t>準備好改變世界了嗎？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 i="0">
                <a:solidFill>
                  <a:srgbClr val="0D9B76"/>
                </a:solidFill>
                <a:latin typeface="Calibri"/>
              </a:defRPr>
            </a:pPr>
            <a:r>
              <a:t>The future of healthcare needs people like you.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2468880"/>
            <a:ext cx="2103120" cy="50800"/>
          </a:xfrm>
          <a:prstGeom prst="rect">
            <a:avLst/>
          </a:prstGeom>
          <a:solidFill>
            <a:srgbClr val="D48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2606040" cy="1645920"/>
          </a:xfrm>
          <a:prstGeom prst="roundRect">
            <a:avLst/>
          </a:prstGeom>
          <a:solidFill>
            <a:srgbClr val="FDF0F3"/>
          </a:solidFill>
          <a:ln w="12700">
            <a:solidFill>
              <a:srgbClr val="A81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81D35"/>
                </a:solidFill>
                <a:latin typeface="Calibri"/>
              </a:defRPr>
            </a:pPr>
            <a:r>
              <a:t>Registration Deadline</a:t>
            </a:r>
          </a:p>
          <a:p>
            <a:pPr algn="ctr">
              <a:defRPr sz="1100" b="1">
                <a:solidFill>
                  <a:srgbClr val="A81D35"/>
                </a:solidFill>
                <a:latin typeface="Calibri"/>
              </a:defRPr>
            </a:pPr>
            <a:r>
              <a:t>報名截止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1188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Calibri"/>
              </a:defRPr>
            </a:pPr>
            <a:r>
              <a:t>March 31, 2026</a:t>
            </a:r>
          </a:p>
          <a:p>
            <a:pPr algn="ctr">
              <a:defRPr sz="1500" b="1">
                <a:solidFill>
                  <a:srgbClr val="1E293B"/>
                </a:solidFill>
                <a:latin typeface="Calibri"/>
              </a:defRPr>
            </a:pPr>
            <a:r>
              <a:t>2026/3/31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834640"/>
            <a:ext cx="2606040" cy="1645920"/>
          </a:xfrm>
          <a:prstGeom prst="roundRect">
            <a:avLst/>
          </a:prstGeom>
          <a:solidFill>
            <a:srgbClr val="E6FAF5"/>
          </a:solidFill>
          <a:ln w="12700">
            <a:solidFill>
              <a:srgbClr val="0D9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297180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D9B76"/>
                </a:solidFill>
                <a:latin typeface="Calibri"/>
              </a:defRPr>
            </a:pPr>
            <a:r>
              <a:t>Event Date</a:t>
            </a:r>
          </a:p>
          <a:p>
            <a:pPr algn="ctr">
              <a:defRPr sz="1100" b="1">
                <a:solidFill>
                  <a:srgbClr val="0D9B76"/>
                </a:solidFill>
                <a:latin typeface="Calibri"/>
              </a:defRPr>
            </a:pPr>
            <a:r>
              <a:t>活動日期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361188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Calibri"/>
              </a:defRPr>
            </a:pPr>
            <a:r>
              <a:t>April 10–11, 2026</a:t>
            </a:r>
          </a:p>
          <a:p>
            <a:pPr algn="ctr">
              <a:defRPr sz="1500" b="1">
                <a:solidFill>
                  <a:srgbClr val="1E293B"/>
                </a:solidFill>
                <a:latin typeface="Calibri"/>
              </a:defRPr>
            </a:pPr>
            <a:r>
              <a:t>4月10-11日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834640"/>
            <a:ext cx="2606040" cy="1645920"/>
          </a:xfrm>
          <a:prstGeom prst="roundRect">
            <a:avLst/>
          </a:prstGeom>
          <a:solidFill>
            <a:srgbClr val="FEF3E2"/>
          </a:solidFill>
          <a:ln w="12700">
            <a:solidFill>
              <a:srgbClr val="D48B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97180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48B0C"/>
                </a:solidFill>
                <a:latin typeface="Calibri"/>
              </a:defRPr>
            </a:pPr>
            <a:r>
              <a:t>Venue</a:t>
            </a:r>
          </a:p>
          <a:p>
            <a:pPr algn="ctr">
              <a:defRPr sz="1100" b="1">
                <a:solidFill>
                  <a:srgbClr val="D48B0C"/>
                </a:solidFill>
                <a:latin typeface="Calibri"/>
              </a:defRPr>
            </a:pPr>
            <a:r>
              <a:t>活動地點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61188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Calibri"/>
              </a:defRPr>
            </a:pPr>
            <a:r>
              <a:t>NTU School of</a:t>
            </a:r>
          </a:p>
          <a:p>
            <a:pPr algn="ctr">
              <a:defRPr sz="1500" b="1">
                <a:solidFill>
                  <a:srgbClr val="1E293B"/>
                </a:solidFill>
                <a:latin typeface="Calibri"/>
              </a:defRPr>
            </a:pPr>
            <a:r>
              <a:t>Public Health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2834640"/>
            <a:ext cx="2606040" cy="1645920"/>
          </a:xfrm>
          <a:prstGeom prst="roundRect">
            <a:avLst/>
          </a:prstGeom>
          <a:solidFill>
            <a:srgbClr val="E6FAF5"/>
          </a:solidFill>
          <a:ln w="12700">
            <a:solidFill>
              <a:srgbClr val="0D9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297180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D9B76"/>
                </a:solidFill>
                <a:latin typeface="Calibri"/>
              </a:defRPr>
            </a:pPr>
            <a:r>
              <a:t>Cost</a:t>
            </a:r>
          </a:p>
          <a:p>
            <a:pPr algn="ctr">
              <a:defRPr sz="1100" b="1">
                <a:solidFill>
                  <a:srgbClr val="0D9B76"/>
                </a:solidFill>
                <a:latin typeface="Calibri"/>
              </a:defRPr>
            </a:pPr>
            <a:r>
              <a:t>費用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361188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Calibri"/>
              </a:defRPr>
            </a:pPr>
            <a:r>
              <a:t>Completely</a:t>
            </a:r>
          </a:p>
          <a:p>
            <a:pPr algn="ctr">
              <a:defRPr sz="1500" b="1">
                <a:solidFill>
                  <a:srgbClr val="1E293B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754880"/>
            <a:ext cx="10698480" cy="9144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84632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 i="0">
                <a:solidFill>
                  <a:srgbClr val="1E293B"/>
                </a:solidFill>
                <a:latin typeface="Calibri"/>
              </a:defRPr>
            </a:pPr>
            <a:r>
              <a:t>Registration: airtable.com (link on our website)  ·  IG: @hsilhackathon.taiwan  ·  Email: hsilhackathon.taiwan@gmail.com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21208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 i="0">
                <a:solidFill>
                  <a:srgbClr val="A81D35"/>
                </a:solidFill>
                <a:latin typeface="Calibri"/>
              </a:defRPr>
            </a:pPr>
            <a:r>
              <a:t>名額有限。台灣第一次。不要錯過。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85216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64748B"/>
                </a:solidFill>
                <a:latin typeface="Calibri"/>
              </a:defRPr>
            </a:pPr>
            <a:r>
              <a:t>Chuehan Kuo  ·  Founder &amp; Lead Coordinator, Taiwan Hub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 i="0">
                <a:solidFill>
                  <a:srgbClr val="1E293B"/>
                </a:solidFill>
                <a:latin typeface="Calibri"/>
              </a:defRPr>
            </a:pPr>
            <a:r>
              <a:t>Thank you  ·  謝謝</a:t>
            </a:r>
          </a:p>
        </p:txBody>
      </p:sp>
      <p:pic>
        <p:nvPicPr>
          <p:cNvPr id="24" name="Picture 23" descr="hsi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5760720"/>
            <a:ext cx="2762538" cy="4572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 i="0">
                <a:solidFill>
                  <a:srgbClr val="64748B"/>
                </a:solidFill>
                <a:latin typeface="Calibri"/>
              </a:defRPr>
            </a:pPr>
            <a: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